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5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6.xml" ContentType="application/vnd.openxmlformats-officedocument.presentationml.tags+xml"/>
  <Override PartName="/ppt/notesSlides/notesSlide27.xml" ContentType="application/vnd.openxmlformats-officedocument.presentationml.notesSlide+xml"/>
  <Override PartName="/ppt/tags/tag7.xml" ContentType="application/vnd.openxmlformats-officedocument.presentationml.tags+xml"/>
  <Override PartName="/ppt/notesSlides/notesSlide28.xml" ContentType="application/vnd.openxmlformats-officedocument.presentationml.notesSlide+xml"/>
  <Override PartName="/ppt/tags/tag8.xml" ContentType="application/vnd.openxmlformats-officedocument.presentationml.tags+xml"/>
  <Override PartName="/ppt/notesSlides/notesSlide29.xml" ContentType="application/vnd.openxmlformats-officedocument.presentationml.notesSlide+xml"/>
  <Override PartName="/ppt/tags/tag9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178" r:id="rId2"/>
  </p:sldMasterIdLst>
  <p:notesMasterIdLst>
    <p:notesMasterId r:id="rId34"/>
  </p:notesMasterIdLst>
  <p:handoutMasterIdLst>
    <p:handoutMasterId r:id="rId35"/>
  </p:handoutMasterIdLst>
  <p:sldIdLst>
    <p:sldId id="1714" r:id="rId3"/>
    <p:sldId id="1926" r:id="rId4"/>
    <p:sldId id="2024" r:id="rId5"/>
    <p:sldId id="2025" r:id="rId6"/>
    <p:sldId id="2023" r:id="rId7"/>
    <p:sldId id="1927" r:id="rId8"/>
    <p:sldId id="2027" r:id="rId9"/>
    <p:sldId id="2028" r:id="rId10"/>
    <p:sldId id="2029" r:id="rId11"/>
    <p:sldId id="2008" r:id="rId12"/>
    <p:sldId id="2031" r:id="rId13"/>
    <p:sldId id="2030" r:id="rId14"/>
    <p:sldId id="2035" r:id="rId15"/>
    <p:sldId id="2032" r:id="rId16"/>
    <p:sldId id="2033" r:id="rId17"/>
    <p:sldId id="2034" r:id="rId18"/>
    <p:sldId id="2037" r:id="rId19"/>
    <p:sldId id="2036" r:id="rId20"/>
    <p:sldId id="2039" r:id="rId21"/>
    <p:sldId id="2040" r:id="rId22"/>
    <p:sldId id="2041" r:id="rId23"/>
    <p:sldId id="1908" r:id="rId24"/>
    <p:sldId id="2019" r:id="rId25"/>
    <p:sldId id="2042" r:id="rId26"/>
    <p:sldId id="2043" r:id="rId27"/>
    <p:sldId id="2044" r:id="rId28"/>
    <p:sldId id="2021" r:id="rId29"/>
    <p:sldId id="2045" r:id="rId30"/>
    <p:sldId id="2047" r:id="rId31"/>
    <p:sldId id="2046" r:id="rId32"/>
    <p:sldId id="1685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4" clrIdx="0">
    <p:extLst>
      <p:ext uri="{19B8F6BF-5375-455C-9EA6-DF929625EA0E}">
        <p15:presenceInfo xmlns:p15="http://schemas.microsoft.com/office/powerpoint/2012/main" userId="lenovo" providerId="None"/>
      </p:ext>
    </p:extLst>
  </p:cmAuthor>
  <p:cmAuthor id="2" name="鸿业 郭" initials="鸿业" lastIdx="7" clrIdx="1">
    <p:extLst>
      <p:ext uri="{19B8F6BF-5375-455C-9EA6-DF929625EA0E}">
        <p15:presenceInfo xmlns:p15="http://schemas.microsoft.com/office/powerpoint/2012/main" userId="48de884c3fc48668" providerId="Windows Live"/>
      </p:ext>
    </p:extLst>
  </p:cmAuthor>
  <p:cmAuthor id="3" name="ThinkPad" initials="TP" lastIdx="33" clrIdx="2">
    <p:extLst>
      <p:ext uri="{19B8F6BF-5375-455C-9EA6-DF929625EA0E}">
        <p15:presenceInfo xmlns:p15="http://schemas.microsoft.com/office/powerpoint/2012/main" userId="ThinkPad" providerId="None"/>
      </p:ext>
    </p:extLst>
  </p:cmAuthor>
  <p:cmAuthor id="4" name="Dell" initials="Dell" lastIdx="1" clrIdx="3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F6FC"/>
    <a:srgbClr val="D4ECF8"/>
    <a:srgbClr val="36B2E1"/>
    <a:srgbClr val="F1F6F9"/>
    <a:srgbClr val="37B3E2"/>
    <a:srgbClr val="26ACDF"/>
    <a:srgbClr val="069FDA"/>
    <a:srgbClr val="32B0E0"/>
    <a:srgbClr val="2DAEE0"/>
    <a:srgbClr val="52B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9" autoAdjust="0"/>
    <p:restoredTop sz="94690" autoAdjust="0"/>
  </p:normalViewPr>
  <p:slideViewPr>
    <p:cSldViewPr snapToGrid="0" showGuides="1">
      <p:cViewPr varScale="1">
        <p:scale>
          <a:sx n="78" d="100"/>
          <a:sy n="78" d="100"/>
        </p:scale>
        <p:origin x="176" y="456"/>
      </p:cViewPr>
      <p:guideLst>
        <p:guide orient="horz" pos="3997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24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5581ACA-B165-4BDB-881C-B01890A1EB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86734F-DD04-4E14-9761-33D690B94B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23574-364C-453D-973C-7E48CD468F75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612996-9E69-4A6D-BEC8-7240F22527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AEE808-F261-428E-9106-35A1CF0E0C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B91D3-5640-46CB-87A6-1909AA7604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5443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DA15-4BB0-44B8-A452-7E468A6337AC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E3FAA-938B-40A0-A190-366E443E7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70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414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88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871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291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817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247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35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683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619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69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73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065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670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42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556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377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5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716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162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761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992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427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8724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563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060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1173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2695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3005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487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E3FAA-938B-40A0-A190-366E443E7FC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48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CF8969B-FE48-4DDA-B49D-A767EE149B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76" b="14304"/>
          <a:stretch/>
        </p:blipFill>
        <p:spPr>
          <a:xfrm flipV="1">
            <a:off x="8591076" y="-1"/>
            <a:ext cx="3600924" cy="5911205"/>
          </a:xfrm>
          <a:prstGeom prst="rect">
            <a:avLst/>
          </a:prstGeom>
        </p:spPr>
      </p:pic>
      <p:pic>
        <p:nvPicPr>
          <p:cNvPr id="6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1" y="96982"/>
            <a:ext cx="2397245" cy="112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9763ACC-896F-4DD5-874B-3B7FBBD2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3792" y="6356350"/>
            <a:ext cx="730008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3309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5C3A70E-EE3B-4909-BD60-859D39A012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51" b="49330"/>
          <a:stretch/>
        </p:blipFill>
        <p:spPr>
          <a:xfrm rot="10800000">
            <a:off x="-2" y="-1"/>
            <a:ext cx="2124373" cy="17038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5CF43FF-D497-4CB2-8105-827B5F2C54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28" t="50766"/>
          <a:stretch/>
        </p:blipFill>
        <p:spPr>
          <a:xfrm flipH="1" flipV="1">
            <a:off x="10527822" y="5565912"/>
            <a:ext cx="1664178" cy="1292086"/>
          </a:xfrm>
          <a:prstGeom prst="rect">
            <a:avLst/>
          </a:prstGeom>
        </p:spPr>
      </p:pic>
      <p:pic>
        <p:nvPicPr>
          <p:cNvPr id="8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1528" y="96983"/>
            <a:ext cx="1943364" cy="90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5808587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40FB7F-1A48-4D5B-A9B7-6DF42DEAF9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-300744" y="343912"/>
            <a:ext cx="4985882" cy="46917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D03935-8FFD-4C29-B672-7FE4F1FF83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0"/>
            <a:ext cx="2743200" cy="853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08BF2AD-B41C-4049-A45D-08DDD92FFE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4" b="64359"/>
          <a:stretch/>
        </p:blipFill>
        <p:spPr>
          <a:xfrm rot="10800000">
            <a:off x="-1" y="-1"/>
            <a:ext cx="2509951" cy="14790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F456856-48F1-4AA2-92E7-94BF7FC93C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01" b="54280"/>
          <a:stretch/>
        </p:blipFill>
        <p:spPr>
          <a:xfrm rot="20700000">
            <a:off x="9722650" y="5217983"/>
            <a:ext cx="2817929" cy="1897309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65C0C4B-3C13-4224-A65A-8FA42566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8098" y="6356350"/>
            <a:ext cx="48570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06626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6419" y="6362192"/>
            <a:ext cx="503686" cy="365125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fld id="{04FD9700-F5CC-49AF-BD2D-23D2173C44D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4EC50F5-431E-4492-BF18-33ACC90FF2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4" b="64359"/>
          <a:stretch/>
        </p:blipFill>
        <p:spPr>
          <a:xfrm rot="10800000">
            <a:off x="-1" y="-1"/>
            <a:ext cx="2509951" cy="1479034"/>
          </a:xfrm>
          <a:prstGeom prst="rect">
            <a:avLst/>
          </a:prstGeom>
        </p:spPr>
      </p:pic>
      <p:pic>
        <p:nvPicPr>
          <p:cNvPr id="11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114" y="27710"/>
            <a:ext cx="1272611" cy="595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8351926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6195938-5BA2-4FF3-97AB-67673FB3AD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208" y="0"/>
            <a:ext cx="1554792" cy="48357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5C7E636-AF46-4331-AFF2-484DCDD224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4" b="64359"/>
          <a:stretch/>
        </p:blipFill>
        <p:spPr>
          <a:xfrm rot="10800000">
            <a:off x="-1" y="-1"/>
            <a:ext cx="2509951" cy="14790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6E42610-6844-48B5-B9BB-A184617242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04" b="54655"/>
          <a:stretch/>
        </p:blipFill>
        <p:spPr>
          <a:xfrm rot="20700000">
            <a:off x="9720790" y="5219410"/>
            <a:ext cx="2808949" cy="1881755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F804B2-5423-406B-994F-31A131AC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1316" y="6356350"/>
            <a:ext cx="562484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94410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C9A7E-543C-4D64-8A1B-7C49C64F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044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E8EDED-4BBC-47C8-80CD-3DAF12BCB514}"/>
              </a:ext>
            </a:extLst>
          </p:cNvPr>
          <p:cNvSpPr txBox="1"/>
          <p:nvPr userDrawn="1"/>
        </p:nvSpPr>
        <p:spPr>
          <a:xfrm>
            <a:off x="720969" y="1547446"/>
            <a:ext cx="10884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21C6F3-24CD-4F38-B74C-B6436FDB88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208" y="0"/>
            <a:ext cx="1554792" cy="4835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D04AF5-E510-4C41-83BC-42C1BC6B3E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4" b="64359"/>
          <a:stretch/>
        </p:blipFill>
        <p:spPr>
          <a:xfrm rot="10800000">
            <a:off x="-1" y="-1"/>
            <a:ext cx="2509951" cy="14790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1B81E6A-7594-4A70-A112-D01367984F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59" b="53631"/>
          <a:stretch/>
        </p:blipFill>
        <p:spPr>
          <a:xfrm rot="20700000">
            <a:off x="9726932" y="5223563"/>
            <a:ext cx="2771266" cy="192425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D5A6B9-C848-4668-9746-7E69965F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7208" y="6356350"/>
            <a:ext cx="71659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55443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C9A7E-543C-4D64-8A1B-7C49C64F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3044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E8EDED-4BBC-47C8-80CD-3DAF12BCB514}"/>
              </a:ext>
            </a:extLst>
          </p:cNvPr>
          <p:cNvSpPr txBox="1"/>
          <p:nvPr userDrawn="1"/>
        </p:nvSpPr>
        <p:spPr>
          <a:xfrm>
            <a:off x="720969" y="1547446"/>
            <a:ext cx="10884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21C6F3-24CD-4F38-B74C-B6436FDB88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208" y="0"/>
            <a:ext cx="1554792" cy="4835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D04AF5-E510-4C41-83BC-42C1BC6B3E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4" b="64359"/>
          <a:stretch/>
        </p:blipFill>
        <p:spPr>
          <a:xfrm rot="10800000">
            <a:off x="-1" y="-1"/>
            <a:ext cx="2509951" cy="147903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1557C-1C2B-4D56-BAF6-E8449142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5474" y="6356350"/>
            <a:ext cx="618325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95797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64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6" r:id="rId2"/>
    <p:sldLayoutId id="2147484177" r:id="rId3"/>
    <p:sldLayoutId id="2147484179" r:id="rId4"/>
    <p:sldLayoutId id="2147484228" r:id="rId5"/>
    <p:sldLayoutId id="2147484227" r:id="rId6"/>
    <p:sldLayoutId id="2147484229" r:id="rId7"/>
  </p:sldLayoutIdLst>
  <p:transition spd="med">
    <p:pull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5.wmf"/><Relationship Id="rId3" Type="http://schemas.openxmlformats.org/officeDocument/2006/relationships/image" Target="../media/image20.png"/><Relationship Id="rId7" Type="http://schemas.openxmlformats.org/officeDocument/2006/relationships/image" Target="../media/image22.emf"/><Relationship Id="rId12" Type="http://schemas.openxmlformats.org/officeDocument/2006/relationships/oleObject" Target="../embeddings/oleObject1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4.emf"/><Relationship Id="rId5" Type="http://schemas.openxmlformats.org/officeDocument/2006/relationships/image" Target="../media/image21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6.png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emf"/><Relationship Id="rId11" Type="http://schemas.openxmlformats.org/officeDocument/2006/relationships/image" Target="../media/image33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32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9.bin"/><Relationship Id="rId7" Type="http://schemas.openxmlformats.org/officeDocument/2006/relationships/image" Target="../media/image3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40.emf"/><Relationship Id="rId5" Type="http://schemas.openxmlformats.org/officeDocument/2006/relationships/image" Target="../media/image37.png"/><Relationship Id="rId10" Type="http://schemas.openxmlformats.org/officeDocument/2006/relationships/oleObject" Target="../embeddings/oleObject22.bin"/><Relationship Id="rId4" Type="http://schemas.openxmlformats.org/officeDocument/2006/relationships/image" Target="../media/image36.wmf"/><Relationship Id="rId9" Type="http://schemas.openxmlformats.org/officeDocument/2006/relationships/image" Target="../media/image39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4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43.png"/><Relationship Id="rId10" Type="http://schemas.openxmlformats.org/officeDocument/2006/relationships/image" Target="../media/image40.e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45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47.e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2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image" Target="../media/image5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oleObject" Target="../embeddings/oleObject3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emf"/><Relationship Id="rId11" Type="http://schemas.openxmlformats.org/officeDocument/2006/relationships/image" Target="../media/image51.png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50.w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3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jpe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0" name="文本框 29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D49D5F6A-1DD7-40BD-979E-F2F34AFF897C}"/>
              </a:ext>
            </a:extLst>
          </p:cNvPr>
          <p:cNvSpPr txBox="1"/>
          <p:nvPr/>
        </p:nvSpPr>
        <p:spPr>
          <a:xfrm>
            <a:off x="930045" y="2823969"/>
            <a:ext cx="8405949" cy="91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4800" b="1" dirty="0">
                <a:solidFill>
                  <a:srgbClr val="0070C0"/>
                </a:solidFill>
                <a:cs typeface="+mn-ea"/>
                <a:sym typeface="+mn-lt"/>
              </a:rPr>
              <a:t>面向新型资源的调频市场机制</a:t>
            </a:r>
            <a:endParaRPr lang="en-US" altLang="zh-CN" sz="48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cxnSp>
        <p:nvCxnSpPr>
          <p:cNvPr id="46" name="直接连接符 45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AD5E1F3A-3D4C-41FA-BC9C-D4F9656179D4}"/>
              </a:ext>
            </a:extLst>
          </p:cNvPr>
          <p:cNvCxnSpPr>
            <a:cxnSpLocks/>
          </p:cNvCxnSpPr>
          <p:nvPr/>
        </p:nvCxnSpPr>
        <p:spPr>
          <a:xfrm>
            <a:off x="1385457" y="6173025"/>
            <a:ext cx="2545041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2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2195E436-260B-4E8B-94A2-4BE2DAD0442A}"/>
              </a:ext>
            </a:extLst>
          </p:cNvPr>
          <p:cNvSpPr>
            <a:spLocks/>
          </p:cNvSpPr>
          <p:nvPr/>
        </p:nvSpPr>
        <p:spPr bwMode="auto">
          <a:xfrm>
            <a:off x="1385457" y="6345238"/>
            <a:ext cx="6188840" cy="159009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70C0"/>
                </a:solidFill>
                <a:cs typeface="+mn-ea"/>
                <a:sym typeface="+mn-lt"/>
              </a:rPr>
              <a:t>吕睿可</a:t>
            </a:r>
            <a:endParaRPr lang="en-US" altLang="zh-CN" sz="20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651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2841829" y="757775"/>
            <a:ext cx="290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汇报内容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3775329" y="1475258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4247929"/>
            <a:ext cx="5384463" cy="646331"/>
            <a:chOff x="6841647" y="4201573"/>
            <a:chExt cx="5384463" cy="646331"/>
          </a:xfrm>
        </p:grpSpPr>
        <p:sp>
          <p:nvSpPr>
            <p:cNvPr id="56" name="文本框 5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结算规则及</a:t>
              </a:r>
              <a:r>
                <a:rPr lang="zh-CN" altLang="en-US" sz="2600" b="1" dirty="0">
                  <a:solidFill>
                    <a:srgbClr val="FF0000"/>
                  </a:solidFill>
                  <a:cs typeface="+mn-ea"/>
                  <a:sym typeface="+mn-lt"/>
                </a:rPr>
                <a:t>激励相容性</a:t>
              </a:r>
              <a:r>
                <a:rPr lang="zh-CN" altLang="en-US" sz="2600" b="1" dirty="0">
                  <a:cs typeface="+mn-ea"/>
                  <a:sym typeface="+mn-lt"/>
                </a:rPr>
                <a:t>分析</a:t>
              </a:r>
            </a:p>
          </p:txBody>
        </p:sp>
        <p:cxnSp>
          <p:nvCxnSpPr>
            <p:cNvPr id="57" name="直接连接符 56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FC629E2-1EA5-48E8-B1FA-48F0D9290E6C}"/>
              </a:ext>
            </a:extLst>
          </p:cNvPr>
          <p:cNvGrpSpPr/>
          <p:nvPr/>
        </p:nvGrpSpPr>
        <p:grpSpPr>
          <a:xfrm>
            <a:off x="2189086" y="1888374"/>
            <a:ext cx="5384463" cy="646331"/>
            <a:chOff x="6841647" y="4201573"/>
            <a:chExt cx="5384463" cy="646331"/>
          </a:xfrm>
        </p:grpSpPr>
        <p:sp>
          <p:nvSpPr>
            <p:cNvPr id="88" name="文本框 8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55E5D7A-6AFD-4651-838A-5D4E4ADD8510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研究背景与动机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89" name="直接连接符 8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AFE57C9-542A-4A57-94C9-67EDC8E9FE8F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2BBF2294-CDAA-4F37-A18C-12ED54F33174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9F7BB3A-1127-4FB9-9BC8-B98C987A73B9}"/>
              </a:ext>
            </a:extLst>
          </p:cNvPr>
          <p:cNvGrpSpPr/>
          <p:nvPr/>
        </p:nvGrpSpPr>
        <p:grpSpPr>
          <a:xfrm>
            <a:off x="2189086" y="2650904"/>
            <a:ext cx="5384463" cy="646331"/>
            <a:chOff x="6841647" y="4201573"/>
            <a:chExt cx="5384463" cy="646331"/>
          </a:xfrm>
        </p:grpSpPr>
        <p:sp>
          <p:nvSpPr>
            <p:cNvPr id="93" name="文本框 9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CC1D400-8E93-4E37-9342-1A4AC729E3E6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所提机制框架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94" name="直接连接符 93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630301C9-A53E-4928-B693-96C6ABA96668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4C683014-4432-408C-81BB-92B198E8B69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87391FD-B799-471D-A685-942B88FC17BA}"/>
              </a:ext>
            </a:extLst>
          </p:cNvPr>
          <p:cNvGrpSpPr/>
          <p:nvPr/>
        </p:nvGrpSpPr>
        <p:grpSpPr>
          <a:xfrm>
            <a:off x="2189086" y="3413434"/>
            <a:ext cx="5384463" cy="964517"/>
            <a:chOff x="6841647" y="4201573"/>
            <a:chExt cx="5384463" cy="964517"/>
          </a:xfrm>
        </p:grpSpPr>
        <p:sp>
          <p:nvSpPr>
            <p:cNvPr id="97" name="文本框 96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D9CE1E3B-02DE-4694-B8DA-F6656119E644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基于</a:t>
              </a:r>
              <a:r>
                <a:rPr lang="zh-CN" altLang="en-US" sz="2600" b="1" dirty="0">
                  <a:solidFill>
                    <a:srgbClr val="FF0000"/>
                  </a:solidFill>
                  <a:cs typeface="+mn-ea"/>
                  <a:sym typeface="+mn-lt"/>
                </a:rPr>
                <a:t>随机优化</a:t>
              </a:r>
              <a:r>
                <a:rPr lang="zh-CN" altLang="en-US" sz="2600" b="1" dirty="0">
                  <a:cs typeface="+mn-ea"/>
                  <a:sym typeface="+mn-lt"/>
                </a:rPr>
                <a:t>的调频市场出清</a:t>
              </a:r>
            </a:p>
            <a:p>
              <a:pPr lvl="0">
                <a:defRPr/>
              </a:pP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98" name="直接连接符 97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0C3B934-213C-4E96-AE20-EC3DC8E21123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72EC4A5C-2889-476E-BF52-DFC013053E03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7257AFE-CAE7-46AD-90E7-E39AB358FD6C}"/>
              </a:ext>
            </a:extLst>
          </p:cNvPr>
          <p:cNvGrpSpPr/>
          <p:nvPr/>
        </p:nvGrpSpPr>
        <p:grpSpPr>
          <a:xfrm>
            <a:off x="7706417" y="3335671"/>
            <a:ext cx="3522591" cy="774559"/>
            <a:chOff x="1130619" y="2196617"/>
            <a:chExt cx="3522591" cy="774559"/>
          </a:xfrm>
        </p:grpSpPr>
        <p:sp>
          <p:nvSpPr>
            <p:cNvPr id="45" name="文本框 44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76CC5437-3551-4265-A96B-9D28FF87AABE}"/>
                </a:ext>
              </a:extLst>
            </p:cNvPr>
            <p:cNvSpPr txBox="1"/>
            <p:nvPr/>
          </p:nvSpPr>
          <p:spPr>
            <a:xfrm>
              <a:off x="1394471" y="2283056"/>
              <a:ext cx="32587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32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不确定性</a:t>
              </a:r>
              <a:endPara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0" name="iconfont-1025-740872">
              <a:extLst>
                <a:ext uri="{FF2B5EF4-FFF2-40B4-BE49-F238E27FC236}">
                  <a16:creationId xmlns:a16="http://schemas.microsoft.com/office/drawing/2014/main" id="{114E705D-FAE4-4E35-A12E-8669E9A6D747}"/>
                </a:ext>
              </a:extLst>
            </p:cNvPr>
            <p:cNvSpPr/>
            <p:nvPr/>
          </p:nvSpPr>
          <p:spPr>
            <a:xfrm>
              <a:off x="1130619" y="2196617"/>
              <a:ext cx="744611" cy="774559"/>
            </a:xfrm>
            <a:custGeom>
              <a:avLst/>
              <a:gdLst>
                <a:gd name="T0" fmla="*/ 11807 w 12172"/>
                <a:gd name="T1" fmla="*/ 3090 h 12659"/>
                <a:gd name="T2" fmla="*/ 12172 w 12172"/>
                <a:gd name="T3" fmla="*/ 1741 h 12659"/>
                <a:gd name="T4" fmla="*/ 11662 w 12172"/>
                <a:gd name="T5" fmla="*/ 858 h 12659"/>
                <a:gd name="T6" fmla="*/ 11167 w 12172"/>
                <a:gd name="T7" fmla="*/ 992 h 12659"/>
                <a:gd name="T8" fmla="*/ 10182 w 12172"/>
                <a:gd name="T9" fmla="*/ 0 h 12659"/>
                <a:gd name="T10" fmla="*/ 9164 w 12172"/>
                <a:gd name="T11" fmla="*/ 0 h 12659"/>
                <a:gd name="T12" fmla="*/ 9032 w 12172"/>
                <a:gd name="T13" fmla="*/ 498 h 12659"/>
                <a:gd name="T14" fmla="*/ 8666 w 12172"/>
                <a:gd name="T15" fmla="*/ 859 h 12659"/>
                <a:gd name="T16" fmla="*/ 7689 w 12172"/>
                <a:gd name="T17" fmla="*/ 859 h 12659"/>
                <a:gd name="T18" fmla="*/ 7682 w 12172"/>
                <a:gd name="T19" fmla="*/ 855 h 12659"/>
                <a:gd name="T20" fmla="*/ 7679 w 12172"/>
                <a:gd name="T21" fmla="*/ 859 h 12659"/>
                <a:gd name="T22" fmla="*/ 810 w 12172"/>
                <a:gd name="T23" fmla="*/ 859 h 12659"/>
                <a:gd name="T24" fmla="*/ 0 w 12172"/>
                <a:gd name="T25" fmla="*/ 1670 h 12659"/>
                <a:gd name="T26" fmla="*/ 0 w 12172"/>
                <a:gd name="T27" fmla="*/ 11850 h 12659"/>
                <a:gd name="T28" fmla="*/ 810 w 12172"/>
                <a:gd name="T29" fmla="*/ 12659 h 12659"/>
                <a:gd name="T30" fmla="*/ 9990 w 12172"/>
                <a:gd name="T31" fmla="*/ 12659 h 12659"/>
                <a:gd name="T32" fmla="*/ 10800 w 12172"/>
                <a:gd name="T33" fmla="*/ 11850 h 12659"/>
                <a:gd name="T34" fmla="*/ 10800 w 12172"/>
                <a:gd name="T35" fmla="*/ 4270 h 12659"/>
                <a:gd name="T36" fmla="*/ 11658 w 12172"/>
                <a:gd name="T37" fmla="*/ 4332 h 12659"/>
                <a:gd name="T38" fmla="*/ 12168 w 12172"/>
                <a:gd name="T39" fmla="*/ 3450 h 12659"/>
                <a:gd name="T40" fmla="*/ 11807 w 12172"/>
                <a:gd name="T41" fmla="*/ 3090 h 12659"/>
                <a:gd name="T42" fmla="*/ 2422 w 12172"/>
                <a:gd name="T43" fmla="*/ 3801 h 12659"/>
                <a:gd name="T44" fmla="*/ 5470 w 12172"/>
                <a:gd name="T45" fmla="*/ 3801 h 12659"/>
                <a:gd name="T46" fmla="*/ 5992 w 12172"/>
                <a:gd name="T47" fmla="*/ 4452 h 12659"/>
                <a:gd name="T48" fmla="*/ 5470 w 12172"/>
                <a:gd name="T49" fmla="*/ 5102 h 12659"/>
                <a:gd name="T50" fmla="*/ 2422 w 12172"/>
                <a:gd name="T51" fmla="*/ 5102 h 12659"/>
                <a:gd name="T52" fmla="*/ 1900 w 12172"/>
                <a:gd name="T53" fmla="*/ 4452 h 12659"/>
                <a:gd name="T54" fmla="*/ 2422 w 12172"/>
                <a:gd name="T55" fmla="*/ 3801 h 12659"/>
                <a:gd name="T56" fmla="*/ 8685 w 12172"/>
                <a:gd name="T57" fmla="*/ 10335 h 12659"/>
                <a:gd name="T58" fmla="*/ 2422 w 12172"/>
                <a:gd name="T59" fmla="*/ 10335 h 12659"/>
                <a:gd name="T60" fmla="*/ 1900 w 12172"/>
                <a:gd name="T61" fmla="*/ 9685 h 12659"/>
                <a:gd name="T62" fmla="*/ 2422 w 12172"/>
                <a:gd name="T63" fmla="*/ 9034 h 12659"/>
                <a:gd name="T64" fmla="*/ 8685 w 12172"/>
                <a:gd name="T65" fmla="*/ 9034 h 12659"/>
                <a:gd name="T66" fmla="*/ 9207 w 12172"/>
                <a:gd name="T67" fmla="*/ 9685 h 12659"/>
                <a:gd name="T68" fmla="*/ 8685 w 12172"/>
                <a:gd name="T69" fmla="*/ 10335 h 12659"/>
                <a:gd name="T70" fmla="*/ 8685 w 12172"/>
                <a:gd name="T71" fmla="*/ 7718 h 12659"/>
                <a:gd name="T72" fmla="*/ 2422 w 12172"/>
                <a:gd name="T73" fmla="*/ 7718 h 12659"/>
                <a:gd name="T74" fmla="*/ 1900 w 12172"/>
                <a:gd name="T75" fmla="*/ 7068 h 12659"/>
                <a:gd name="T76" fmla="*/ 2422 w 12172"/>
                <a:gd name="T77" fmla="*/ 6418 h 12659"/>
                <a:gd name="T78" fmla="*/ 2422 w 12172"/>
                <a:gd name="T79" fmla="*/ 6417 h 12659"/>
                <a:gd name="T80" fmla="*/ 8685 w 12172"/>
                <a:gd name="T81" fmla="*/ 6417 h 12659"/>
                <a:gd name="T82" fmla="*/ 9207 w 12172"/>
                <a:gd name="T83" fmla="*/ 7068 h 12659"/>
                <a:gd name="T84" fmla="*/ 8685 w 12172"/>
                <a:gd name="T85" fmla="*/ 7718 h 12659"/>
                <a:gd name="T86" fmla="*/ 9672 w 12172"/>
                <a:gd name="T87" fmla="*/ 3642 h 12659"/>
                <a:gd name="T88" fmla="*/ 8622 w 12172"/>
                <a:gd name="T89" fmla="*/ 2593 h 12659"/>
                <a:gd name="T90" fmla="*/ 9672 w 12172"/>
                <a:gd name="T91" fmla="*/ 1543 h 12659"/>
                <a:gd name="T92" fmla="*/ 10722 w 12172"/>
                <a:gd name="T93" fmla="*/ 2593 h 12659"/>
                <a:gd name="T94" fmla="*/ 9672 w 12172"/>
                <a:gd name="T95" fmla="*/ 3642 h 12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172" h="12659">
                  <a:moveTo>
                    <a:pt x="11807" y="3090"/>
                  </a:moveTo>
                  <a:cubicBezTo>
                    <a:pt x="11534" y="2619"/>
                    <a:pt x="11698" y="2015"/>
                    <a:pt x="12172" y="1741"/>
                  </a:cubicBezTo>
                  <a:lnTo>
                    <a:pt x="11662" y="858"/>
                  </a:lnTo>
                  <a:cubicBezTo>
                    <a:pt x="11517" y="944"/>
                    <a:pt x="11347" y="992"/>
                    <a:pt x="11167" y="992"/>
                  </a:cubicBezTo>
                  <a:cubicBezTo>
                    <a:pt x="10622" y="992"/>
                    <a:pt x="10182" y="548"/>
                    <a:pt x="10182" y="0"/>
                  </a:cubicBezTo>
                  <a:lnTo>
                    <a:pt x="9164" y="0"/>
                  </a:lnTo>
                  <a:cubicBezTo>
                    <a:pt x="9165" y="169"/>
                    <a:pt x="9123" y="341"/>
                    <a:pt x="9032" y="498"/>
                  </a:cubicBezTo>
                  <a:cubicBezTo>
                    <a:pt x="8941" y="654"/>
                    <a:pt x="8813" y="776"/>
                    <a:pt x="8666" y="859"/>
                  </a:cubicBezTo>
                  <a:lnTo>
                    <a:pt x="7689" y="859"/>
                  </a:lnTo>
                  <a:cubicBezTo>
                    <a:pt x="7687" y="858"/>
                    <a:pt x="7684" y="857"/>
                    <a:pt x="7682" y="855"/>
                  </a:cubicBezTo>
                  <a:lnTo>
                    <a:pt x="7679" y="859"/>
                  </a:lnTo>
                  <a:lnTo>
                    <a:pt x="810" y="859"/>
                  </a:lnTo>
                  <a:cubicBezTo>
                    <a:pt x="365" y="859"/>
                    <a:pt x="0" y="1224"/>
                    <a:pt x="0" y="1670"/>
                  </a:cubicBezTo>
                  <a:lnTo>
                    <a:pt x="0" y="11850"/>
                  </a:lnTo>
                  <a:cubicBezTo>
                    <a:pt x="0" y="12295"/>
                    <a:pt x="365" y="12659"/>
                    <a:pt x="810" y="12659"/>
                  </a:cubicBezTo>
                  <a:lnTo>
                    <a:pt x="9990" y="12659"/>
                  </a:lnTo>
                  <a:cubicBezTo>
                    <a:pt x="10435" y="12659"/>
                    <a:pt x="10800" y="12295"/>
                    <a:pt x="10800" y="11850"/>
                  </a:cubicBezTo>
                  <a:lnTo>
                    <a:pt x="10800" y="4270"/>
                  </a:lnTo>
                  <a:cubicBezTo>
                    <a:pt x="11071" y="4164"/>
                    <a:pt x="11386" y="4176"/>
                    <a:pt x="11658" y="4332"/>
                  </a:cubicBezTo>
                  <a:lnTo>
                    <a:pt x="12168" y="3450"/>
                  </a:lnTo>
                  <a:cubicBezTo>
                    <a:pt x="12022" y="3367"/>
                    <a:pt x="11896" y="3246"/>
                    <a:pt x="11807" y="3090"/>
                  </a:cubicBezTo>
                  <a:close/>
                  <a:moveTo>
                    <a:pt x="2422" y="3801"/>
                  </a:moveTo>
                  <a:lnTo>
                    <a:pt x="5470" y="3801"/>
                  </a:lnTo>
                  <a:cubicBezTo>
                    <a:pt x="5758" y="3801"/>
                    <a:pt x="5992" y="4092"/>
                    <a:pt x="5992" y="4452"/>
                  </a:cubicBezTo>
                  <a:cubicBezTo>
                    <a:pt x="5992" y="4811"/>
                    <a:pt x="5758" y="5102"/>
                    <a:pt x="5470" y="5102"/>
                  </a:cubicBezTo>
                  <a:lnTo>
                    <a:pt x="2422" y="5102"/>
                  </a:lnTo>
                  <a:cubicBezTo>
                    <a:pt x="2134" y="5102"/>
                    <a:pt x="1900" y="4811"/>
                    <a:pt x="1900" y="4452"/>
                  </a:cubicBezTo>
                  <a:cubicBezTo>
                    <a:pt x="1900" y="4092"/>
                    <a:pt x="2134" y="3801"/>
                    <a:pt x="2422" y="3801"/>
                  </a:cubicBezTo>
                  <a:close/>
                  <a:moveTo>
                    <a:pt x="8685" y="10335"/>
                  </a:moveTo>
                  <a:lnTo>
                    <a:pt x="2422" y="10335"/>
                  </a:lnTo>
                  <a:cubicBezTo>
                    <a:pt x="2134" y="10335"/>
                    <a:pt x="1900" y="10045"/>
                    <a:pt x="1900" y="9685"/>
                  </a:cubicBezTo>
                  <a:cubicBezTo>
                    <a:pt x="1900" y="9325"/>
                    <a:pt x="2134" y="9034"/>
                    <a:pt x="2422" y="9034"/>
                  </a:cubicBezTo>
                  <a:lnTo>
                    <a:pt x="8685" y="9034"/>
                  </a:lnTo>
                  <a:cubicBezTo>
                    <a:pt x="8973" y="9034"/>
                    <a:pt x="9207" y="9325"/>
                    <a:pt x="9207" y="9685"/>
                  </a:cubicBezTo>
                  <a:cubicBezTo>
                    <a:pt x="9207" y="10045"/>
                    <a:pt x="8973" y="10335"/>
                    <a:pt x="8685" y="10335"/>
                  </a:cubicBezTo>
                  <a:close/>
                  <a:moveTo>
                    <a:pt x="8685" y="7718"/>
                  </a:moveTo>
                  <a:lnTo>
                    <a:pt x="2422" y="7718"/>
                  </a:lnTo>
                  <a:cubicBezTo>
                    <a:pt x="2134" y="7718"/>
                    <a:pt x="1900" y="7428"/>
                    <a:pt x="1900" y="7068"/>
                  </a:cubicBezTo>
                  <a:cubicBezTo>
                    <a:pt x="1900" y="6709"/>
                    <a:pt x="2134" y="6418"/>
                    <a:pt x="2422" y="6418"/>
                  </a:cubicBezTo>
                  <a:lnTo>
                    <a:pt x="2422" y="6417"/>
                  </a:lnTo>
                  <a:lnTo>
                    <a:pt x="8685" y="6417"/>
                  </a:lnTo>
                  <a:cubicBezTo>
                    <a:pt x="8973" y="6417"/>
                    <a:pt x="9207" y="6708"/>
                    <a:pt x="9207" y="7068"/>
                  </a:cubicBezTo>
                  <a:cubicBezTo>
                    <a:pt x="9207" y="7428"/>
                    <a:pt x="8973" y="7718"/>
                    <a:pt x="8685" y="7718"/>
                  </a:cubicBezTo>
                  <a:close/>
                  <a:moveTo>
                    <a:pt x="9672" y="3642"/>
                  </a:moveTo>
                  <a:cubicBezTo>
                    <a:pt x="9092" y="3642"/>
                    <a:pt x="8622" y="3173"/>
                    <a:pt x="8622" y="2593"/>
                  </a:cubicBezTo>
                  <a:cubicBezTo>
                    <a:pt x="8622" y="2014"/>
                    <a:pt x="9092" y="1543"/>
                    <a:pt x="9672" y="1543"/>
                  </a:cubicBezTo>
                  <a:cubicBezTo>
                    <a:pt x="10252" y="1543"/>
                    <a:pt x="10722" y="2013"/>
                    <a:pt x="10722" y="2593"/>
                  </a:cubicBezTo>
                  <a:cubicBezTo>
                    <a:pt x="10722" y="3172"/>
                    <a:pt x="10252" y="3642"/>
                    <a:pt x="9672" y="36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D4F0982-F1A2-469A-9460-7AAEB6FDECB8}"/>
              </a:ext>
            </a:extLst>
          </p:cNvPr>
          <p:cNvGrpSpPr/>
          <p:nvPr/>
        </p:nvGrpSpPr>
        <p:grpSpPr>
          <a:xfrm>
            <a:off x="7625670" y="4172391"/>
            <a:ext cx="3947935" cy="787447"/>
            <a:chOff x="6674349" y="2183729"/>
            <a:chExt cx="3947935" cy="787447"/>
          </a:xfrm>
        </p:grpSpPr>
        <p:sp>
          <p:nvSpPr>
            <p:cNvPr id="46" name="文本框 4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2ECFFF12-3E86-4853-8935-6C88DB60931B}"/>
                </a:ext>
              </a:extLst>
            </p:cNvPr>
            <p:cNvSpPr txBox="1"/>
            <p:nvPr/>
          </p:nvSpPr>
          <p:spPr>
            <a:xfrm>
              <a:off x="6674349" y="2305921"/>
              <a:ext cx="39479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32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多主体</a:t>
              </a:r>
              <a:endPara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2" name="iconfont-11145-7310420">
              <a:extLst>
                <a:ext uri="{FF2B5EF4-FFF2-40B4-BE49-F238E27FC236}">
                  <a16:creationId xmlns:a16="http://schemas.microsoft.com/office/drawing/2014/main" id="{7E531A18-766E-490D-BF50-399ECB3C037B}"/>
                </a:ext>
              </a:extLst>
            </p:cNvPr>
            <p:cNvSpPr/>
            <p:nvPr/>
          </p:nvSpPr>
          <p:spPr>
            <a:xfrm>
              <a:off x="6755096" y="2183729"/>
              <a:ext cx="787283" cy="787447"/>
            </a:xfrm>
            <a:custGeom>
              <a:avLst/>
              <a:gdLst>
                <a:gd name="T0" fmla="*/ 4993 w 9984"/>
                <a:gd name="T1" fmla="*/ 2140 h 9986"/>
                <a:gd name="T2" fmla="*/ 3923 w 9984"/>
                <a:gd name="T3" fmla="*/ 1071 h 9986"/>
                <a:gd name="T4" fmla="*/ 4993 w 9984"/>
                <a:gd name="T5" fmla="*/ 0 h 9986"/>
                <a:gd name="T6" fmla="*/ 6063 w 9984"/>
                <a:gd name="T7" fmla="*/ 1071 h 9986"/>
                <a:gd name="T8" fmla="*/ 4993 w 9984"/>
                <a:gd name="T9" fmla="*/ 2140 h 9986"/>
                <a:gd name="T10" fmla="*/ 9984 w 9984"/>
                <a:gd name="T11" fmla="*/ 6419 h 9986"/>
                <a:gd name="T12" fmla="*/ 8558 w 9984"/>
                <a:gd name="T13" fmla="*/ 7846 h 9986"/>
                <a:gd name="T14" fmla="*/ 7845 w 9984"/>
                <a:gd name="T15" fmla="*/ 7846 h 9986"/>
                <a:gd name="T16" fmla="*/ 6419 w 9984"/>
                <a:gd name="T17" fmla="*/ 6419 h 9986"/>
                <a:gd name="T18" fmla="*/ 7845 w 9984"/>
                <a:gd name="T19" fmla="*/ 3567 h 9986"/>
                <a:gd name="T20" fmla="*/ 7133 w 9984"/>
                <a:gd name="T21" fmla="*/ 3567 h 9986"/>
                <a:gd name="T22" fmla="*/ 6420 w 9984"/>
                <a:gd name="T23" fmla="*/ 2854 h 9986"/>
                <a:gd name="T24" fmla="*/ 5708 w 9984"/>
                <a:gd name="T25" fmla="*/ 2854 h 9986"/>
                <a:gd name="T26" fmla="*/ 5708 w 9984"/>
                <a:gd name="T27" fmla="*/ 8559 h 9986"/>
                <a:gd name="T28" fmla="*/ 6420 w 9984"/>
                <a:gd name="T29" fmla="*/ 9273 h 9986"/>
                <a:gd name="T30" fmla="*/ 7133 w 9984"/>
                <a:gd name="T31" fmla="*/ 9273 h 9986"/>
                <a:gd name="T32" fmla="*/ 7845 w 9984"/>
                <a:gd name="T33" fmla="*/ 9986 h 9986"/>
                <a:gd name="T34" fmla="*/ 2140 w 9984"/>
                <a:gd name="T35" fmla="*/ 9986 h 9986"/>
                <a:gd name="T36" fmla="*/ 2853 w 9984"/>
                <a:gd name="T37" fmla="*/ 9273 h 9986"/>
                <a:gd name="T38" fmla="*/ 3565 w 9984"/>
                <a:gd name="T39" fmla="*/ 9273 h 9986"/>
                <a:gd name="T40" fmla="*/ 4278 w 9984"/>
                <a:gd name="T41" fmla="*/ 8559 h 9986"/>
                <a:gd name="T42" fmla="*/ 4299 w 9984"/>
                <a:gd name="T43" fmla="*/ 8559 h 9986"/>
                <a:gd name="T44" fmla="*/ 4278 w 9984"/>
                <a:gd name="T45" fmla="*/ 2854 h 9986"/>
                <a:gd name="T46" fmla="*/ 3565 w 9984"/>
                <a:gd name="T47" fmla="*/ 2854 h 9986"/>
                <a:gd name="T48" fmla="*/ 2853 w 9984"/>
                <a:gd name="T49" fmla="*/ 3567 h 9986"/>
                <a:gd name="T50" fmla="*/ 2140 w 9984"/>
                <a:gd name="T51" fmla="*/ 3567 h 9986"/>
                <a:gd name="T52" fmla="*/ 3566 w 9984"/>
                <a:gd name="T53" fmla="*/ 6419 h 9986"/>
                <a:gd name="T54" fmla="*/ 2140 w 9984"/>
                <a:gd name="T55" fmla="*/ 7846 h 9986"/>
                <a:gd name="T56" fmla="*/ 1426 w 9984"/>
                <a:gd name="T57" fmla="*/ 7846 h 9986"/>
                <a:gd name="T58" fmla="*/ 0 w 9984"/>
                <a:gd name="T59" fmla="*/ 6419 h 9986"/>
                <a:gd name="T60" fmla="*/ 1426 w 9984"/>
                <a:gd name="T61" fmla="*/ 3567 h 9986"/>
                <a:gd name="T62" fmla="*/ 714 w 9984"/>
                <a:gd name="T63" fmla="*/ 3567 h 9986"/>
                <a:gd name="T64" fmla="*/ 714 w 9984"/>
                <a:gd name="T65" fmla="*/ 2854 h 9986"/>
                <a:gd name="T66" fmla="*/ 2853 w 9984"/>
                <a:gd name="T67" fmla="*/ 2854 h 9986"/>
                <a:gd name="T68" fmla="*/ 3565 w 9984"/>
                <a:gd name="T69" fmla="*/ 2142 h 9986"/>
                <a:gd name="T70" fmla="*/ 6419 w 9984"/>
                <a:gd name="T71" fmla="*/ 2142 h 9986"/>
                <a:gd name="T72" fmla="*/ 7132 w 9984"/>
                <a:gd name="T73" fmla="*/ 2854 h 9986"/>
                <a:gd name="T74" fmla="*/ 9270 w 9984"/>
                <a:gd name="T75" fmla="*/ 2854 h 9986"/>
                <a:gd name="T76" fmla="*/ 9270 w 9984"/>
                <a:gd name="T77" fmla="*/ 3567 h 9986"/>
                <a:gd name="T78" fmla="*/ 8557 w 9984"/>
                <a:gd name="T79" fmla="*/ 3567 h 9986"/>
                <a:gd name="T80" fmla="*/ 9984 w 9984"/>
                <a:gd name="T81" fmla="*/ 6419 h 9986"/>
                <a:gd name="T82" fmla="*/ 1784 w 9984"/>
                <a:gd name="T83" fmla="*/ 4279 h 9986"/>
                <a:gd name="T84" fmla="*/ 714 w 9984"/>
                <a:gd name="T85" fmla="*/ 6418 h 9986"/>
                <a:gd name="T86" fmla="*/ 2853 w 9984"/>
                <a:gd name="T87" fmla="*/ 6418 h 9986"/>
                <a:gd name="T88" fmla="*/ 1784 w 9984"/>
                <a:gd name="T89" fmla="*/ 4279 h 9986"/>
                <a:gd name="T90" fmla="*/ 9272 w 9984"/>
                <a:gd name="T91" fmla="*/ 6419 h 9986"/>
                <a:gd name="T92" fmla="*/ 8202 w 9984"/>
                <a:gd name="T93" fmla="*/ 4281 h 9986"/>
                <a:gd name="T94" fmla="*/ 7132 w 9984"/>
                <a:gd name="T95" fmla="*/ 6419 h 9986"/>
                <a:gd name="T96" fmla="*/ 9272 w 9984"/>
                <a:gd name="T97" fmla="*/ 6419 h 9986"/>
                <a:gd name="T98" fmla="*/ 9272 w 9984"/>
                <a:gd name="T99" fmla="*/ 6419 h 9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84" h="9986">
                  <a:moveTo>
                    <a:pt x="4993" y="2140"/>
                  </a:moveTo>
                  <a:cubicBezTo>
                    <a:pt x="4402" y="2140"/>
                    <a:pt x="3923" y="1663"/>
                    <a:pt x="3923" y="1071"/>
                  </a:cubicBezTo>
                  <a:cubicBezTo>
                    <a:pt x="3923" y="479"/>
                    <a:pt x="4400" y="0"/>
                    <a:pt x="4993" y="0"/>
                  </a:cubicBezTo>
                  <a:cubicBezTo>
                    <a:pt x="5585" y="0"/>
                    <a:pt x="6063" y="478"/>
                    <a:pt x="6063" y="1071"/>
                  </a:cubicBezTo>
                  <a:cubicBezTo>
                    <a:pt x="6063" y="1662"/>
                    <a:pt x="5584" y="2140"/>
                    <a:pt x="4993" y="2140"/>
                  </a:cubicBezTo>
                  <a:close/>
                  <a:moveTo>
                    <a:pt x="9984" y="6419"/>
                  </a:moveTo>
                  <a:cubicBezTo>
                    <a:pt x="9984" y="7211"/>
                    <a:pt x="9349" y="7846"/>
                    <a:pt x="8558" y="7846"/>
                  </a:cubicBezTo>
                  <a:lnTo>
                    <a:pt x="7845" y="7846"/>
                  </a:lnTo>
                  <a:cubicBezTo>
                    <a:pt x="7054" y="7844"/>
                    <a:pt x="6419" y="7211"/>
                    <a:pt x="6419" y="6419"/>
                  </a:cubicBezTo>
                  <a:lnTo>
                    <a:pt x="7845" y="3567"/>
                  </a:lnTo>
                  <a:lnTo>
                    <a:pt x="7133" y="3567"/>
                  </a:lnTo>
                  <a:cubicBezTo>
                    <a:pt x="6740" y="3567"/>
                    <a:pt x="6420" y="3246"/>
                    <a:pt x="6420" y="2854"/>
                  </a:cubicBezTo>
                  <a:lnTo>
                    <a:pt x="5708" y="2854"/>
                  </a:lnTo>
                  <a:lnTo>
                    <a:pt x="5708" y="8559"/>
                  </a:lnTo>
                  <a:cubicBezTo>
                    <a:pt x="6008" y="8559"/>
                    <a:pt x="6420" y="8881"/>
                    <a:pt x="6420" y="9273"/>
                  </a:cubicBezTo>
                  <a:lnTo>
                    <a:pt x="7133" y="9273"/>
                  </a:lnTo>
                  <a:cubicBezTo>
                    <a:pt x="7433" y="9273"/>
                    <a:pt x="7845" y="9594"/>
                    <a:pt x="7845" y="9986"/>
                  </a:cubicBezTo>
                  <a:lnTo>
                    <a:pt x="2140" y="9986"/>
                  </a:lnTo>
                  <a:cubicBezTo>
                    <a:pt x="2140" y="9593"/>
                    <a:pt x="2554" y="9273"/>
                    <a:pt x="2853" y="9273"/>
                  </a:cubicBezTo>
                  <a:lnTo>
                    <a:pt x="3565" y="9273"/>
                  </a:lnTo>
                  <a:cubicBezTo>
                    <a:pt x="3565" y="8881"/>
                    <a:pt x="3979" y="8559"/>
                    <a:pt x="4278" y="8559"/>
                  </a:cubicBezTo>
                  <a:lnTo>
                    <a:pt x="4299" y="8559"/>
                  </a:lnTo>
                  <a:lnTo>
                    <a:pt x="4278" y="2854"/>
                  </a:lnTo>
                  <a:lnTo>
                    <a:pt x="3565" y="2854"/>
                  </a:lnTo>
                  <a:cubicBezTo>
                    <a:pt x="3565" y="3247"/>
                    <a:pt x="3244" y="3567"/>
                    <a:pt x="2853" y="3567"/>
                  </a:cubicBezTo>
                  <a:lnTo>
                    <a:pt x="2140" y="3567"/>
                  </a:lnTo>
                  <a:lnTo>
                    <a:pt x="3566" y="6419"/>
                  </a:lnTo>
                  <a:cubicBezTo>
                    <a:pt x="3566" y="7211"/>
                    <a:pt x="2931" y="7846"/>
                    <a:pt x="2140" y="7846"/>
                  </a:cubicBezTo>
                  <a:lnTo>
                    <a:pt x="1426" y="7846"/>
                  </a:lnTo>
                  <a:cubicBezTo>
                    <a:pt x="635" y="7846"/>
                    <a:pt x="0" y="7211"/>
                    <a:pt x="0" y="6419"/>
                  </a:cubicBezTo>
                  <a:lnTo>
                    <a:pt x="1426" y="3567"/>
                  </a:lnTo>
                  <a:lnTo>
                    <a:pt x="714" y="3567"/>
                  </a:lnTo>
                  <a:lnTo>
                    <a:pt x="714" y="2854"/>
                  </a:lnTo>
                  <a:lnTo>
                    <a:pt x="2853" y="2854"/>
                  </a:lnTo>
                  <a:cubicBezTo>
                    <a:pt x="2853" y="2462"/>
                    <a:pt x="3174" y="2142"/>
                    <a:pt x="3565" y="2142"/>
                  </a:cubicBezTo>
                  <a:lnTo>
                    <a:pt x="6419" y="2142"/>
                  </a:lnTo>
                  <a:cubicBezTo>
                    <a:pt x="6812" y="2142"/>
                    <a:pt x="7132" y="2463"/>
                    <a:pt x="7132" y="2854"/>
                  </a:cubicBezTo>
                  <a:lnTo>
                    <a:pt x="9270" y="2854"/>
                  </a:lnTo>
                  <a:lnTo>
                    <a:pt x="9270" y="3567"/>
                  </a:lnTo>
                  <a:lnTo>
                    <a:pt x="8557" y="3567"/>
                  </a:lnTo>
                  <a:lnTo>
                    <a:pt x="9984" y="6419"/>
                  </a:lnTo>
                  <a:close/>
                  <a:moveTo>
                    <a:pt x="1784" y="4279"/>
                  </a:moveTo>
                  <a:lnTo>
                    <a:pt x="714" y="6418"/>
                  </a:lnTo>
                  <a:lnTo>
                    <a:pt x="2853" y="6418"/>
                  </a:lnTo>
                  <a:lnTo>
                    <a:pt x="1784" y="4279"/>
                  </a:lnTo>
                  <a:close/>
                  <a:moveTo>
                    <a:pt x="9272" y="6419"/>
                  </a:moveTo>
                  <a:lnTo>
                    <a:pt x="8202" y="4281"/>
                  </a:lnTo>
                  <a:lnTo>
                    <a:pt x="7132" y="6419"/>
                  </a:lnTo>
                  <a:lnTo>
                    <a:pt x="9272" y="6419"/>
                  </a:lnTo>
                  <a:close/>
                  <a:moveTo>
                    <a:pt x="9272" y="6419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5129078"/>
            <a:ext cx="5384463" cy="646331"/>
            <a:chOff x="6841647" y="4201573"/>
            <a:chExt cx="5384463" cy="646331"/>
          </a:xfrm>
        </p:grpSpPr>
        <p:sp>
          <p:nvSpPr>
            <p:cNvPr id="38" name="文本框 3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算例分析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9" name="直接连接符 3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05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6500345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277827" y="5881628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550203" y="1385927"/>
            <a:ext cx="10902770" cy="97257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可再生能源、电动汽车、储能</a:t>
            </a:r>
            <a:r>
              <a:rPr lang="zh-CN" altLang="en-US" sz="2200" b="1" dirty="0">
                <a:latin typeface="+mj-ea"/>
              </a:rPr>
              <a:t>等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电力电子化</a:t>
            </a:r>
            <a:r>
              <a:rPr lang="zh-CN" altLang="en-US" sz="2200" b="1" dirty="0">
                <a:latin typeface="+mj-ea"/>
              </a:rPr>
              <a:t>新型资源能够为电力系统提供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  <a:r>
              <a:rPr lang="zh-CN" altLang="en-US" sz="2200" b="1" dirty="0">
                <a:latin typeface="+mj-ea"/>
              </a:rPr>
              <a:t>服务，但现有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调频市场机制</a:t>
            </a:r>
            <a:r>
              <a:rPr lang="en-US" altLang="zh-CN" sz="2200" baseline="30000" dirty="0">
                <a:latin typeface="+mj-ea"/>
              </a:rPr>
              <a:t>[1]</a:t>
            </a:r>
            <a:r>
              <a:rPr lang="zh-CN" altLang="en-US" sz="2200" b="1" dirty="0">
                <a:latin typeface="+mj-ea"/>
              </a:rPr>
              <a:t>不能反映储能、</a:t>
            </a:r>
            <a:r>
              <a:rPr lang="en-US" altLang="zh-CN" sz="2200" b="1" dirty="0">
                <a:latin typeface="+mj-ea"/>
              </a:rPr>
              <a:t>EV</a:t>
            </a:r>
            <a:r>
              <a:rPr lang="zh-CN" altLang="en-US" sz="2200" b="1" dirty="0">
                <a:latin typeface="+mj-ea"/>
              </a:rPr>
              <a:t>等新型资源参与调频的成本特性。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132558" y="2631495"/>
                <a:ext cx="5622149" cy="2893100"/>
              </a:xfrm>
              <a:prstGeom prst="rect">
                <a:avLst/>
              </a:prstGeom>
              <a:solidFill>
                <a:srgbClr val="EAF6FC"/>
              </a:solidFill>
            </p:spPr>
            <p:txBody>
              <a:bodyPr wrap="square">
                <a:spAutoFit/>
              </a:bodyPr>
              <a:lstStyle/>
              <a:p>
                <a:pPr marL="342000" indent="-3420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PJM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调频补偿机制：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容量收入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里程收入</a:t>
                </a:r>
                <a:endPara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000" indent="-3420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里程定义：机组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出力变化的绝对值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之和。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000" indent="-3420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逻辑：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000" indent="-3420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）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基于火电机组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调整出力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成本特性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:VOM cost ($/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𝑀𝑊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额外烧煤才能调整出力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342000" indent="-3420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）跟随调频信号导致的出力变化在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能量市场结算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，因此不再补偿。</a:t>
                </a: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558" y="2631495"/>
                <a:ext cx="5622149" cy="2893100"/>
              </a:xfrm>
              <a:prstGeom prst="rect">
                <a:avLst/>
              </a:prstGeom>
              <a:blipFill>
                <a:blip r:embed="rId3"/>
                <a:stretch>
                  <a:fillRect l="-976" r="-868" b="-1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>
                  <a:solidFill>
                    <a:schemeClr val="accent1"/>
                  </a:solidFill>
                  <a:latin typeface="+mj-ea"/>
                </a:rPr>
                <a:t>研究背景与意义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9212326-F7CE-49AD-AA95-A65C34D4F8CF}"/>
              </a:ext>
            </a:extLst>
          </p:cNvPr>
          <p:cNvCxnSpPr>
            <a:cxnSpLocks/>
          </p:cNvCxnSpPr>
          <p:nvPr/>
        </p:nvCxnSpPr>
        <p:spPr>
          <a:xfrm>
            <a:off x="550203" y="5805488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36848" y="5923587"/>
            <a:ext cx="6327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PJM, BPM 11, Energy &amp; Ancillary Services Market Operations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1026" name="Picture 2" descr="https://gimg2.baidu.com/image_search/src=http%3A%2F%2Ffile5.hi1718.com%2Fproduct%2F18%2F07%2F04%2F20180704165642444.png&amp;refer=http%3A%2F%2Ffile5.hi1718.com&amp;app=2002&amp;size=f9999,10000&amp;q=a80&amp;n=0&amp;g=0n&amp;fmt=auto?sec=1657503029&amp;t=7cca6b2493309fdacdb27d6fbca6263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38" y="2633543"/>
            <a:ext cx="5276850" cy="216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347500" y="4901484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储能提供调频示意图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33497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251494" y="6076885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550203" y="1385927"/>
            <a:ext cx="10902770" cy="97257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可再生能源、电动汽车、储能</a:t>
            </a:r>
            <a:r>
              <a:rPr lang="zh-CN" altLang="en-US" sz="2200" b="1" dirty="0">
                <a:latin typeface="+mj-ea"/>
              </a:rPr>
              <a:t>等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电力电子化</a:t>
            </a:r>
            <a:r>
              <a:rPr lang="zh-CN" altLang="en-US" sz="2200" b="1" dirty="0">
                <a:latin typeface="+mj-ea"/>
              </a:rPr>
              <a:t>新型资源能够为电力系统提供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  <a:r>
              <a:rPr lang="zh-CN" altLang="en-US" sz="2200" b="1" dirty="0">
                <a:latin typeface="+mj-ea"/>
              </a:rPr>
              <a:t>服务，但现有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调频市场机制</a:t>
            </a:r>
            <a:r>
              <a:rPr lang="en-US" altLang="zh-CN" sz="2200" baseline="30000" dirty="0">
                <a:latin typeface="+mj-ea"/>
              </a:rPr>
              <a:t>[1]</a:t>
            </a:r>
            <a:r>
              <a:rPr lang="zh-CN" altLang="en-US" sz="2200" b="1" dirty="0">
                <a:latin typeface="+mj-ea"/>
              </a:rPr>
              <a:t>不能反映储能、</a:t>
            </a:r>
            <a:r>
              <a:rPr lang="en-US" altLang="zh-CN" sz="2200" b="1" dirty="0">
                <a:latin typeface="+mj-ea"/>
              </a:rPr>
              <a:t>EV</a:t>
            </a:r>
            <a:r>
              <a:rPr lang="zh-CN" altLang="en-US" sz="2200" b="1" dirty="0">
                <a:latin typeface="+mj-ea"/>
              </a:rPr>
              <a:t>等新型资源参与调频的成本特性。</a:t>
            </a:r>
          </a:p>
        </p:txBody>
      </p:sp>
      <p:sp>
        <p:nvSpPr>
          <p:cNvPr id="11" name="矩形 10"/>
          <p:cNvSpPr/>
          <p:nvPr/>
        </p:nvSpPr>
        <p:spPr>
          <a:xfrm>
            <a:off x="6132558" y="2631495"/>
            <a:ext cx="5622149" cy="2492990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里程计算：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,0~120s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时段内调频资源的调频里程均为：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向电网注入能量：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P*T/2 = 60MW*60s/2 = 0.5MWh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模式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P*2T/2 = 60MW*120s/2 = 1MWh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>
                  <a:solidFill>
                    <a:schemeClr val="accent1"/>
                  </a:solidFill>
                  <a:latin typeface="+mj-ea"/>
                </a:rPr>
                <a:t>研究背景与意义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9212326-F7CE-49AD-AA95-A65C34D4F8CF}"/>
              </a:ext>
            </a:extLst>
          </p:cNvPr>
          <p:cNvCxnSpPr>
            <a:cxnSpLocks/>
          </p:cNvCxnSpPr>
          <p:nvPr/>
        </p:nvCxnSpPr>
        <p:spPr>
          <a:xfrm>
            <a:off x="550203" y="6069607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27882" y="6082955"/>
            <a:ext cx="11184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[1] PJM, BPM 11, Energy &amp; Ancillary Services Market Operations</a:t>
            </a:r>
          </a:p>
          <a:p>
            <a:r>
              <a:rPr lang="en-US" altLang="zh-CN" sz="1400" dirty="0"/>
              <a:t>[2] Sakti A, Gallagher KG, Sepulveda N, </a:t>
            </a:r>
            <a:r>
              <a:rPr lang="en-US" altLang="zh-CN" sz="1400" dirty="0" err="1"/>
              <a:t>Uckun</a:t>
            </a:r>
            <a:r>
              <a:rPr lang="en-US" altLang="zh-CN" sz="1400" dirty="0"/>
              <a:t> C, Vergara C, de </a:t>
            </a:r>
            <a:r>
              <a:rPr lang="en-US" altLang="zh-CN" sz="1400" dirty="0" err="1"/>
              <a:t>Sisternes</a:t>
            </a:r>
            <a:r>
              <a:rPr lang="en-US" altLang="zh-CN" sz="1400" dirty="0"/>
              <a:t> FJ, Dees DW, </a:t>
            </a:r>
            <a:r>
              <a:rPr lang="en-US" altLang="zh-CN" sz="1400" dirty="0" err="1"/>
              <a:t>Botterud</a:t>
            </a:r>
            <a:r>
              <a:rPr lang="en-US" altLang="zh-CN" sz="1400" dirty="0"/>
              <a:t> A. Enhanced representations of lithium-ion batteries in power systems models and their effect on the valuation of energy arbitrage applications. Journal of Power Sources. 2017 Feb 28;342:279-91.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87" y="2503604"/>
            <a:ext cx="4237613" cy="3183786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051626"/>
              </p:ext>
            </p:extLst>
          </p:nvPr>
        </p:nvGraphicFramePr>
        <p:xfrm>
          <a:off x="8023973" y="3511910"/>
          <a:ext cx="3522796" cy="377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190440" progId="Equation.DSMT4">
                  <p:embed/>
                </p:oleObj>
              </mc:Choice>
              <mc:Fallback>
                <p:oleObj name="Equation" r:id="rId4" imgW="17776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23973" y="3511910"/>
                        <a:ext cx="3522796" cy="377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6569272" y="5271933"/>
            <a:ext cx="4246976" cy="73296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569273" y="5217066"/>
            <a:ext cx="4246975" cy="85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储能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老化成本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与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放电深度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相关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[2]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，里程不能表达储能等资源参与调频的成本！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1677544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196140" y="5881628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859333" y="1490338"/>
            <a:ext cx="9436479" cy="97257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    现有研究鲜有考虑对于调频市场的投标结构</a:t>
            </a:r>
            <a:r>
              <a:rPr lang="en-US" altLang="zh-CN" sz="2200" b="1" dirty="0">
                <a:latin typeface="+mj-ea"/>
              </a:rPr>
              <a:t>､</a:t>
            </a:r>
            <a:r>
              <a:rPr lang="zh-CN" altLang="en-US" sz="2200" b="1" dirty="0">
                <a:latin typeface="+mj-ea"/>
              </a:rPr>
              <a:t>出清方法和结算方式等机制的系统性修正</a:t>
            </a:r>
            <a:r>
              <a:rPr lang="en-US" altLang="zh-CN" sz="2200" b="1" dirty="0">
                <a:latin typeface="+mj-ea"/>
              </a:rPr>
              <a:t>,</a:t>
            </a:r>
            <a:r>
              <a:rPr lang="zh-CN" altLang="en-US" sz="2200" b="1" dirty="0">
                <a:latin typeface="+mj-ea"/>
              </a:rPr>
              <a:t>以适应新型资源的特性。</a:t>
            </a:r>
          </a:p>
        </p:txBody>
      </p:sp>
      <p:sp>
        <p:nvSpPr>
          <p:cNvPr id="11" name="矩形 10"/>
          <p:cNvSpPr/>
          <p:nvPr/>
        </p:nvSpPr>
        <p:spPr>
          <a:xfrm>
            <a:off x="581427" y="2584774"/>
            <a:ext cx="11091591" cy="2492990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调频里程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的性能考核和补偿机制，由美国联邦能源监管委员会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(FERC)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要求下美国各大电力市场引入</a:t>
            </a:r>
            <a:r>
              <a:rPr lang="en-US" altLang="zh-CN" sz="20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FERC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颁布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号法案</a:t>
            </a:r>
            <a:r>
              <a:rPr lang="en-US" altLang="zh-CN" sz="20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要求各电力市场修正规则以便储能参与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主要体现为要求赋予储能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市场主体地位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和考虑储能特殊的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物理特性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但尚未对调频市场机制做出根本性改变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大多数研究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基于现有市场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机制，研究储能或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等新型资源参与调频市场的潜力或最优投标策略</a:t>
            </a:r>
            <a:r>
              <a:rPr lang="en-US" altLang="zh-CN" sz="20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[5][6][7]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仅有少量研究关注调频市场机制本身，且均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基于调频里程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>
                  <a:solidFill>
                    <a:schemeClr val="accent1"/>
                  </a:solidFill>
                  <a:latin typeface="+mj-ea"/>
                </a:rPr>
                <a:t>研究背景与意义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9212326-F7CE-49AD-AA95-A65C34D4F8CF}"/>
              </a:ext>
            </a:extLst>
          </p:cNvPr>
          <p:cNvCxnSpPr>
            <a:cxnSpLocks/>
          </p:cNvCxnSpPr>
          <p:nvPr/>
        </p:nvCxnSpPr>
        <p:spPr>
          <a:xfrm>
            <a:off x="468516" y="5805488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76988" y="5881628"/>
            <a:ext cx="65442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ts val="1200"/>
              </a:lnSpc>
              <a:spcAft>
                <a:spcPts val="0"/>
              </a:spcAft>
              <a:tabLst>
                <a:tab pos="222250" algn="l"/>
              </a:tabLst>
            </a:pP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[1] Federal Energy Regulatory Commission. Order No. 755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 Washington DC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FERC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2011.</a:t>
            </a:r>
            <a:endParaRPr lang="zh-CN" altLang="zh-CN" sz="4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 fontAlgn="base">
              <a:lnSpc>
                <a:spcPts val="1200"/>
              </a:lnSpc>
              <a:spcAft>
                <a:spcPts val="0"/>
              </a:spcAft>
              <a:tabLst>
                <a:tab pos="222250" algn="l"/>
              </a:tabLst>
            </a:pP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[2] Federal Energy Regulatory Commission. Order No. 841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 Washington DC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FERC</a:t>
            </a:r>
            <a:r>
              <a:rPr lang="zh-CN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2018.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6727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文本框 82">
            <a:extLst>
              <a:ext uri="{FF2B5EF4-FFF2-40B4-BE49-F238E27FC236}">
                <a16:creationId xmlns:a16="http://schemas.microsoft.com/office/drawing/2014/main" id="{1879624E-2A7F-4A83-8BDB-37A78B5C6757}"/>
              </a:ext>
            </a:extLst>
          </p:cNvPr>
          <p:cNvSpPr txBox="1"/>
          <p:nvPr/>
        </p:nvSpPr>
        <p:spPr>
          <a:xfrm>
            <a:off x="4061012" y="905561"/>
            <a:ext cx="506379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面向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新型资源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微网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调频市场机制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1168733" y="1949385"/>
            <a:ext cx="10115242" cy="141269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基于调频里程的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补偿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与新型资源的实际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运行成本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不能直接对应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导致资源投标时无法直接申报成本参数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而是需要自行估计调频成本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并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求解复杂的优化问题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才能决定申报的容量和里程价格。</a:t>
            </a:r>
            <a:endParaRPr lang="en-US" altLang="zh-CN" sz="22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1168733" y="4535067"/>
            <a:ext cx="9769512" cy="180991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本文基于新型资源参与调频的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成本特性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对现有调频市场机制进行修改，包括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投标结构</a:t>
            </a:r>
            <a:r>
              <a:rPr lang="en-US" altLang="zh-CN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､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出清规则</a:t>
            </a:r>
            <a:r>
              <a:rPr lang="en-US" altLang="zh-CN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､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调频功率分配方法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结算规则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，从而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简化市场逻辑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､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降低分布式资源参与市场的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技术门槛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｡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为了聚焦，暂不考虑跨区域调频以及对传统机组的兼容。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5D87C38-1495-4DE9-B048-08A56FBF662D}"/>
              </a:ext>
            </a:extLst>
          </p:cNvPr>
          <p:cNvSpPr txBox="1"/>
          <p:nvPr/>
        </p:nvSpPr>
        <p:spPr>
          <a:xfrm>
            <a:off x="745862" y="1339321"/>
            <a:ext cx="3315150" cy="6524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spc="600" dirty="0">
                <a:solidFill>
                  <a:schemeClr val="accent1"/>
                </a:solidFill>
              </a:rPr>
              <a:t>现有机制的不足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92C5A71-9DAA-4B91-AECE-D27A295FC98C}"/>
              </a:ext>
            </a:extLst>
          </p:cNvPr>
          <p:cNvSpPr txBox="1"/>
          <p:nvPr/>
        </p:nvSpPr>
        <p:spPr>
          <a:xfrm>
            <a:off x="488363" y="3667169"/>
            <a:ext cx="3369111" cy="6052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spc="600" dirty="0">
                <a:solidFill>
                  <a:schemeClr val="accent1"/>
                </a:solidFill>
              </a:rPr>
              <a:t>本研究的意义</a:t>
            </a: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C124308-1D37-46C8-B473-79571E8839B0}"/>
              </a:ext>
            </a:extLst>
          </p:cNvPr>
          <p:cNvCxnSpPr>
            <a:cxnSpLocks/>
          </p:cNvCxnSpPr>
          <p:nvPr/>
        </p:nvCxnSpPr>
        <p:spPr>
          <a:xfrm>
            <a:off x="1086355" y="3592886"/>
            <a:ext cx="101152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61" name="标题 1">
            <a:extLst>
              <a:ext uri="{FF2B5EF4-FFF2-40B4-BE49-F238E27FC236}">
                <a16:creationId xmlns:a16="http://schemas.microsoft.com/office/drawing/2014/main" id="{B3030354-CDC8-462E-9AC3-CB1A4207A451}"/>
              </a:ext>
            </a:extLst>
          </p:cNvPr>
          <p:cNvSpPr txBox="1">
            <a:spLocks/>
          </p:cNvSpPr>
          <p:nvPr/>
        </p:nvSpPr>
        <p:spPr>
          <a:xfrm>
            <a:off x="1251110" y="152725"/>
            <a:ext cx="9950488" cy="75283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b="1" spc="600" dirty="0">
                <a:solidFill>
                  <a:schemeClr val="accent1"/>
                </a:solidFill>
                <a:latin typeface="+mj-ea"/>
              </a:rPr>
              <a:t>研究背景与意义</a:t>
            </a:r>
            <a:endParaRPr lang="en-US" altLang="zh-CN" sz="3600" b="1" spc="600" dirty="0">
              <a:solidFill>
                <a:schemeClr val="accen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6382800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2841829" y="757775"/>
            <a:ext cx="290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汇报内容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3775329" y="1475258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4247929"/>
            <a:ext cx="5384463" cy="646331"/>
            <a:chOff x="6841647" y="4201573"/>
            <a:chExt cx="5384463" cy="646331"/>
          </a:xfrm>
        </p:grpSpPr>
        <p:sp>
          <p:nvSpPr>
            <p:cNvPr id="56" name="文本框 5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结算规则及激励相容性分析</a:t>
              </a:r>
            </a:p>
          </p:txBody>
        </p:sp>
        <p:cxnSp>
          <p:nvCxnSpPr>
            <p:cNvPr id="57" name="直接连接符 56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FC629E2-1EA5-48E8-B1FA-48F0D9290E6C}"/>
              </a:ext>
            </a:extLst>
          </p:cNvPr>
          <p:cNvGrpSpPr/>
          <p:nvPr/>
        </p:nvGrpSpPr>
        <p:grpSpPr>
          <a:xfrm>
            <a:off x="2189086" y="1888374"/>
            <a:ext cx="5384463" cy="646331"/>
            <a:chOff x="6841647" y="4201573"/>
            <a:chExt cx="5384463" cy="646331"/>
          </a:xfrm>
        </p:grpSpPr>
        <p:sp>
          <p:nvSpPr>
            <p:cNvPr id="88" name="文本框 8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55E5D7A-6AFD-4651-838A-5D4E4ADD8510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研究背景与动机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89" name="直接连接符 8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AFE57C9-542A-4A57-94C9-67EDC8E9FE8F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2BBF2294-CDAA-4F37-A18C-12ED54F33174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9F7BB3A-1127-4FB9-9BC8-B98C987A73B9}"/>
              </a:ext>
            </a:extLst>
          </p:cNvPr>
          <p:cNvGrpSpPr/>
          <p:nvPr/>
        </p:nvGrpSpPr>
        <p:grpSpPr>
          <a:xfrm>
            <a:off x="2189086" y="2650904"/>
            <a:ext cx="5384463" cy="646331"/>
            <a:chOff x="6841647" y="4201573"/>
            <a:chExt cx="5384463" cy="646331"/>
          </a:xfrm>
        </p:grpSpPr>
        <p:sp>
          <p:nvSpPr>
            <p:cNvPr id="93" name="文本框 9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CC1D400-8E93-4E37-9342-1A4AC729E3E6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solidFill>
                    <a:schemeClr val="accent1"/>
                  </a:solidFill>
                  <a:cs typeface="+mn-ea"/>
                  <a:sym typeface="+mn-lt"/>
                </a:rPr>
                <a:t>所提机制框架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94" name="直接连接符 93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630301C9-A53E-4928-B693-96C6ABA96668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4C683014-4432-408C-81BB-92B198E8B69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87391FD-B799-471D-A685-942B88FC17BA}"/>
              </a:ext>
            </a:extLst>
          </p:cNvPr>
          <p:cNvGrpSpPr/>
          <p:nvPr/>
        </p:nvGrpSpPr>
        <p:grpSpPr>
          <a:xfrm>
            <a:off x="2189086" y="3413434"/>
            <a:ext cx="5384463" cy="964517"/>
            <a:chOff x="6841647" y="4201573"/>
            <a:chExt cx="5384463" cy="964517"/>
          </a:xfrm>
        </p:grpSpPr>
        <p:sp>
          <p:nvSpPr>
            <p:cNvPr id="97" name="文本框 96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D9CE1E3B-02DE-4694-B8DA-F6656119E644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基于随机优化的调频市场出清</a:t>
              </a:r>
            </a:p>
            <a:p>
              <a:pPr lvl="0">
                <a:defRPr/>
              </a:pP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98" name="直接连接符 97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0C3B934-213C-4E96-AE20-EC3DC8E21123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72EC4A5C-2889-476E-BF52-DFC013053E03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5129078"/>
            <a:ext cx="5384463" cy="646331"/>
            <a:chOff x="6841647" y="4201573"/>
            <a:chExt cx="5384463" cy="646331"/>
          </a:xfrm>
        </p:grpSpPr>
        <p:sp>
          <p:nvSpPr>
            <p:cNvPr id="38" name="文本框 3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算例分析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9" name="直接连接符 3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05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0554246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227363" y="6362328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753325" y="942768"/>
            <a:ext cx="10965976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微电网</a:t>
            </a:r>
            <a:r>
              <a:rPr lang="zh-CN" altLang="en-US" sz="2200" dirty="0">
                <a:latin typeface="+mj-ea"/>
              </a:rPr>
              <a:t>下新型资源提供</a:t>
            </a:r>
            <a:r>
              <a:rPr lang="en-US" altLang="zh-CN" sz="2200" kern="0" dirty="0" err="1">
                <a:latin typeface="微软雅黑" pitchFamily="34" charset="-122"/>
                <a:ea typeface="微软雅黑" pitchFamily="34" charset="-122"/>
              </a:rPr>
              <a:t>RegD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调频</a:t>
            </a:r>
            <a:r>
              <a:rPr lang="zh-CN" altLang="en-US" sz="2200" dirty="0">
                <a:latin typeface="+mj-ea"/>
              </a:rPr>
              <a:t>的市场机制，包括：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投标、出清、结算规则</a:t>
            </a:r>
            <a:r>
              <a:rPr lang="zh-CN" altLang="en-US" sz="2200" dirty="0">
                <a:latin typeface="+mj-ea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4340233" y="199974"/>
            <a:ext cx="3416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spc="600" dirty="0">
                <a:solidFill>
                  <a:schemeClr val="accent1"/>
                </a:solidFill>
                <a:latin typeface="+mj-ea"/>
                <a:ea typeface="+mj-ea"/>
                <a:cs typeface="+mj-cs"/>
              </a:rPr>
              <a:t>所提机制框架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50" y="1757082"/>
            <a:ext cx="5166750" cy="404840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736333" y="1920037"/>
            <a:ext cx="40482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对现有机制的修正主要为：用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出力调整成本特性取代里程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成本，并在机制的各环节进行相应修改。</a:t>
            </a:r>
            <a:endParaRPr lang="en-US" altLang="zh-CN" sz="2200" kern="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200" kern="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难点包括：</a:t>
            </a:r>
            <a:endParaRPr lang="en-US" altLang="zh-CN" sz="2200" kern="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）调频出力调整需求未知，出清模型需要考虑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不确定性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200" kern="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200" kern="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）需要考虑</a:t>
            </a:r>
            <a:r>
              <a:rPr lang="zh-CN" altLang="en-US" sz="22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市场主体的逐利行为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，可能存在策略性报价。</a:t>
            </a:r>
          </a:p>
        </p:txBody>
      </p:sp>
      <p:sp>
        <p:nvSpPr>
          <p:cNvPr id="9" name="矩形 8"/>
          <p:cNvSpPr/>
          <p:nvPr/>
        </p:nvSpPr>
        <p:spPr>
          <a:xfrm>
            <a:off x="6594262" y="1757082"/>
            <a:ext cx="4306820" cy="404840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409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2841829" y="757775"/>
            <a:ext cx="290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汇报内容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3775329" y="1475258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4247929"/>
            <a:ext cx="5384463" cy="646331"/>
            <a:chOff x="6841647" y="4201573"/>
            <a:chExt cx="5384463" cy="646331"/>
          </a:xfrm>
        </p:grpSpPr>
        <p:sp>
          <p:nvSpPr>
            <p:cNvPr id="56" name="文本框 5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结算规则及激励相容性分析</a:t>
              </a:r>
            </a:p>
          </p:txBody>
        </p:sp>
        <p:cxnSp>
          <p:nvCxnSpPr>
            <p:cNvPr id="57" name="直接连接符 56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FC629E2-1EA5-48E8-B1FA-48F0D9290E6C}"/>
              </a:ext>
            </a:extLst>
          </p:cNvPr>
          <p:cNvGrpSpPr/>
          <p:nvPr/>
        </p:nvGrpSpPr>
        <p:grpSpPr>
          <a:xfrm>
            <a:off x="2189086" y="1888374"/>
            <a:ext cx="5384463" cy="646331"/>
            <a:chOff x="6841647" y="4201573"/>
            <a:chExt cx="5384463" cy="646331"/>
          </a:xfrm>
        </p:grpSpPr>
        <p:sp>
          <p:nvSpPr>
            <p:cNvPr id="88" name="文本框 8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55E5D7A-6AFD-4651-838A-5D4E4ADD8510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研究背景与动机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89" name="直接连接符 8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AFE57C9-542A-4A57-94C9-67EDC8E9FE8F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2BBF2294-CDAA-4F37-A18C-12ED54F33174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9F7BB3A-1127-4FB9-9BC8-B98C987A73B9}"/>
              </a:ext>
            </a:extLst>
          </p:cNvPr>
          <p:cNvGrpSpPr/>
          <p:nvPr/>
        </p:nvGrpSpPr>
        <p:grpSpPr>
          <a:xfrm>
            <a:off x="2189086" y="2650904"/>
            <a:ext cx="5384463" cy="646331"/>
            <a:chOff x="6841647" y="4201573"/>
            <a:chExt cx="5384463" cy="646331"/>
          </a:xfrm>
        </p:grpSpPr>
        <p:sp>
          <p:nvSpPr>
            <p:cNvPr id="93" name="文本框 9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CC1D400-8E93-4E37-9342-1A4AC729E3E6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所提机制框架</a:t>
              </a:r>
            </a:p>
          </p:txBody>
        </p:sp>
        <p:cxnSp>
          <p:nvCxnSpPr>
            <p:cNvPr id="94" name="直接连接符 93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630301C9-A53E-4928-B693-96C6ABA96668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4C683014-4432-408C-81BB-92B198E8B69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87391FD-B799-471D-A685-942B88FC17BA}"/>
              </a:ext>
            </a:extLst>
          </p:cNvPr>
          <p:cNvGrpSpPr/>
          <p:nvPr/>
        </p:nvGrpSpPr>
        <p:grpSpPr>
          <a:xfrm>
            <a:off x="2189086" y="3413434"/>
            <a:ext cx="5384463" cy="964517"/>
            <a:chOff x="6841647" y="4201573"/>
            <a:chExt cx="5384463" cy="964517"/>
          </a:xfrm>
        </p:grpSpPr>
        <p:sp>
          <p:nvSpPr>
            <p:cNvPr id="97" name="文本框 96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D9CE1E3B-02DE-4694-B8DA-F6656119E644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600" b="1" dirty="0">
                  <a:solidFill>
                    <a:schemeClr val="accent1"/>
                  </a:solidFill>
                  <a:cs typeface="+mn-ea"/>
                  <a:sym typeface="+mn-lt"/>
                </a:rPr>
                <a:t>基于随机优化的调频市场出清</a:t>
              </a:r>
            </a:p>
            <a:p>
              <a:pPr lvl="0">
                <a:defRPr/>
              </a:pP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98" name="直接连接符 97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0C3B934-213C-4E96-AE20-EC3DC8E21123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72EC4A5C-2889-476E-BF52-DFC013053E03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5129078"/>
            <a:ext cx="5384463" cy="646331"/>
            <a:chOff x="6841647" y="4201573"/>
            <a:chExt cx="5384463" cy="646331"/>
          </a:xfrm>
        </p:grpSpPr>
        <p:sp>
          <p:nvSpPr>
            <p:cNvPr id="38" name="文本框 3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算例分析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9" name="直接连接符 3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05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4154383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655328" y="1296611"/>
            <a:ext cx="525995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投标结构</a:t>
            </a:r>
          </a:p>
        </p:txBody>
      </p:sp>
      <p:sp>
        <p:nvSpPr>
          <p:cNvPr id="11" name="矩形 10"/>
          <p:cNvSpPr/>
          <p:nvPr/>
        </p:nvSpPr>
        <p:spPr>
          <a:xfrm>
            <a:off x="6360263" y="1796350"/>
            <a:ext cx="5197835" cy="3293209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除了容量成本外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所提机制允许各资源上报未来时段内的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出力调整成本特性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并基于此进行集中出清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功率调整量分配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为了使模型保持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线性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要求资源上报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双向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､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分段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､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递增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的边际成本量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允许其报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负边际成本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但不允许申报双向负边际成本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以避免同时上调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沿用现有机制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对调频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机会成本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测算法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基于随机优化的调频市场出清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68516" y="1844984"/>
            <a:ext cx="5446762" cy="278080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486256"/>
              </p:ext>
            </p:extLst>
          </p:nvPr>
        </p:nvGraphicFramePr>
        <p:xfrm>
          <a:off x="1082675" y="2138363"/>
          <a:ext cx="460216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960" imgH="253800" progId="Equation.DSMT4">
                  <p:embed/>
                </p:oleObj>
              </mc:Choice>
              <mc:Fallback>
                <p:oleObj name="Equation" r:id="rId3" imgW="2145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138363"/>
                        <a:ext cx="4602163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1782549" y="2915723"/>
            <a:ext cx="413272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为报价可行空间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由各资源自行保证可行性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为申报的向上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容量成本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为申报第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段向上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出力调整边际成本量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091789"/>
              </p:ext>
            </p:extLst>
          </p:nvPr>
        </p:nvGraphicFramePr>
        <p:xfrm>
          <a:off x="1128187" y="2953503"/>
          <a:ext cx="343813" cy="392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203040" progId="Equation.DSMT4">
                  <p:embed/>
                </p:oleObj>
              </mc:Choice>
              <mc:Fallback>
                <p:oleObj name="Equation" r:id="rId5" imgW="177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8187" y="2953503"/>
                        <a:ext cx="343813" cy="3929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913880"/>
              </p:ext>
            </p:extLst>
          </p:nvPr>
        </p:nvGraphicFramePr>
        <p:xfrm>
          <a:off x="930392" y="3491638"/>
          <a:ext cx="852157" cy="391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800" imgH="215640" progId="Equation.DSMT4">
                  <p:embed/>
                </p:oleObj>
              </mc:Choice>
              <mc:Fallback>
                <p:oleObj name="Equation" r:id="rId7" imgW="469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0392" y="3491638"/>
                        <a:ext cx="852157" cy="391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888619"/>
              </p:ext>
            </p:extLst>
          </p:nvPr>
        </p:nvGraphicFramePr>
        <p:xfrm>
          <a:off x="468516" y="3821895"/>
          <a:ext cx="1342124" cy="412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480" imgH="253800" progId="Equation.DSMT4">
                  <p:embed/>
                </p:oleObj>
              </mc:Choice>
              <mc:Fallback>
                <p:oleObj name="Equation" r:id="rId9" imgW="82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516" y="3821895"/>
                        <a:ext cx="1342124" cy="412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293835"/>
              </p:ext>
            </p:extLst>
          </p:nvPr>
        </p:nvGraphicFramePr>
        <p:xfrm>
          <a:off x="6649955" y="5202489"/>
          <a:ext cx="1746550" cy="478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07334" imgH="275644" progId="Equation.DSMT4">
                  <p:embed/>
                </p:oleObj>
              </mc:Choice>
              <mc:Fallback>
                <p:oleObj name="Equation" r:id="rId11" imgW="1007334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49955" y="5202489"/>
                        <a:ext cx="1746550" cy="478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444399"/>
              </p:ext>
            </p:extLst>
          </p:nvPr>
        </p:nvGraphicFramePr>
        <p:xfrm>
          <a:off x="8683999" y="5148476"/>
          <a:ext cx="1943667" cy="53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07334" imgH="275644" progId="Equation.DSMT4">
                  <p:embed/>
                </p:oleObj>
              </mc:Choice>
              <mc:Fallback>
                <p:oleObj name="Equation" r:id="rId13" imgW="1007334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83999" y="5148476"/>
                        <a:ext cx="1943667" cy="532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479536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781225" y="1296639"/>
            <a:ext cx="486657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场景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+mj-ea"/>
              </a:rPr>
              <a:t>下调频功率分配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0)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49550" y="1493441"/>
            <a:ext cx="5197835" cy="4093428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不含辅助变量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：各资源向上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出力调整量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目标函数：场景  的出力调整成本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所有资源出力响应之和等于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功率需求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该约束对应的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对偶变量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   为场景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的调频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出力调整边际价格</a:t>
            </a:r>
            <a:endParaRPr lang="en-US" altLang="zh-CN" sz="2000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各功率在量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价对的分量的约束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各资源功率在各量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价对的分解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各资源功率调整成本在量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价对的分解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为线性规划问题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基于随机优化的调频市场出清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68516" y="1844983"/>
            <a:ext cx="5446762" cy="36324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48" y="1972496"/>
            <a:ext cx="4784498" cy="333402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481452" y="1942496"/>
          <a:ext cx="1092854" cy="41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1529" imgH="275644" progId="Equation.DSMT4">
                  <p:embed/>
                </p:oleObj>
              </mc:Choice>
              <mc:Fallback>
                <p:oleObj name="Equation" r:id="rId4" imgW="731529" imgH="275644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81452" y="1942496"/>
                        <a:ext cx="1092854" cy="41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217320"/>
              </p:ext>
            </p:extLst>
          </p:nvPr>
        </p:nvGraphicFramePr>
        <p:xfrm>
          <a:off x="8849449" y="2453752"/>
          <a:ext cx="198035" cy="265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167" imgH="95235" progId="Equation.DSMT4">
                  <p:embed/>
                </p:oleObj>
              </mc:Choice>
              <mc:Fallback>
                <p:oleObj name="Equation" r:id="rId6" imgW="95167" imgH="95235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49449" y="2453752"/>
                        <a:ext cx="198035" cy="265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1795" y="5577612"/>
          <a:ext cx="1962385" cy="352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7334" imgH="180768" progId="Equation.DSMT4">
                  <p:embed/>
                </p:oleObj>
              </mc:Choice>
              <mc:Fallback>
                <p:oleObj name="Equation" r:id="rId8" imgW="1007334" imgH="180768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1795" y="5577612"/>
                        <a:ext cx="1962385" cy="352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2096255" y="5929914"/>
            <a:ext cx="42066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时段调频需求容量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提前确定</a:t>
            </a:r>
          </a:p>
        </p:txBody>
      </p:sp>
      <p:sp>
        <p:nvSpPr>
          <p:cNvPr id="16" name="矩形 15"/>
          <p:cNvSpPr/>
          <p:nvPr/>
        </p:nvSpPr>
        <p:spPr>
          <a:xfrm>
            <a:off x="2096255" y="5560582"/>
            <a:ext cx="4544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当前所需功率调整量与调频容量的比值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957138" y="5947186"/>
          <a:ext cx="315850" cy="31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0638" imgH="180768" progId="Equation.DSMT4">
                  <p:embed/>
                </p:oleObj>
              </mc:Choice>
              <mc:Fallback>
                <p:oleObj name="Equation" r:id="rId10" imgW="180638" imgH="180768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57138" y="5947186"/>
                        <a:ext cx="315850" cy="31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080875"/>
              </p:ext>
            </p:extLst>
          </p:nvPr>
        </p:nvGraphicFramePr>
        <p:xfrm>
          <a:off x="9841438" y="3138280"/>
          <a:ext cx="336100" cy="465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0" imgH="228600" progId="Equation.DSMT4">
                  <p:embed/>
                </p:oleObj>
              </mc:Choice>
              <mc:Fallback>
                <p:oleObj name="Equation" r:id="rId12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841438" y="3138280"/>
                        <a:ext cx="336100" cy="465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575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777583" y="1159470"/>
            <a:ext cx="486657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市场出清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1)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49550" y="1493441"/>
            <a:ext cx="5197835" cy="4893647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不含辅助变量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：各资源向上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中标容量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目标函数：社会福利最大化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在给定调频需求时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则为极小化系统调频成本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包括调频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容量成本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出力调整成本</a:t>
            </a:r>
            <a:endParaRPr lang="en-US" altLang="zh-CN" sz="2000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(7)-(10)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含义与问题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中相同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表示各资源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调频容量成本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(12)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表示资源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中标容量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即机组所有场景向上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出力的最大值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写为不等式的形式以保持模型的线性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给定参数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以及各资源的投标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LP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随机优化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基于随机优化的调频市场出清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7582" y="1599581"/>
            <a:ext cx="5137695" cy="47128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469" y="1663900"/>
            <a:ext cx="4159611" cy="4577429"/>
          </a:xfrm>
          <a:prstGeom prst="rect">
            <a:avLst/>
          </a:prstGeom>
        </p:spPr>
      </p:pic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743700"/>
              </p:ext>
            </p:extLst>
          </p:nvPr>
        </p:nvGraphicFramePr>
        <p:xfrm>
          <a:off x="1040981" y="6421913"/>
          <a:ext cx="330619" cy="330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638" imgH="180768" progId="Equation.DSMT4">
                  <p:embed/>
                </p:oleObj>
              </mc:Choice>
              <mc:Fallback>
                <p:oleObj name="Equation" r:id="rId4" imgW="180638" imgH="1807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0981" y="6421913"/>
                        <a:ext cx="330619" cy="330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1371600" y="6424473"/>
            <a:ext cx="4888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为调频场景  出现的概率，可根据历史数据拟合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450822"/>
              </p:ext>
            </p:extLst>
          </p:nvPr>
        </p:nvGraphicFramePr>
        <p:xfrm>
          <a:off x="2571775" y="6521692"/>
          <a:ext cx="19843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375" imgH="266770" progId="Equation.DSMT4">
                  <p:embed/>
                </p:oleObj>
              </mc:Choice>
              <mc:Fallback>
                <p:oleObj name="Equation" r:id="rId6" imgW="198375" imgH="2667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71775" y="6521692"/>
                        <a:ext cx="198437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876362"/>
              </p:ext>
            </p:extLst>
          </p:nvPr>
        </p:nvGraphicFramePr>
        <p:xfrm>
          <a:off x="8182722" y="1981200"/>
          <a:ext cx="2758256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5963" imgH="218862" progId="Equation.DSMT4">
                  <p:embed/>
                </p:oleObj>
              </mc:Choice>
              <mc:Fallback>
                <p:oleObj name="Equation" r:id="rId8" imgW="1795963" imgH="2188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82722" y="1981200"/>
                        <a:ext cx="2758256" cy="33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055247"/>
              </p:ext>
            </p:extLst>
          </p:nvPr>
        </p:nvGraphicFramePr>
        <p:xfrm>
          <a:off x="7821245" y="5547387"/>
          <a:ext cx="1928864" cy="346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7334" imgH="180768" progId="Equation.DSMT4">
                  <p:embed/>
                </p:oleObj>
              </mc:Choice>
              <mc:Fallback>
                <p:oleObj name="Equation" r:id="rId10" imgW="1007334" imgH="1807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21245" y="5547387"/>
                        <a:ext cx="1928864" cy="346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801446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777583" y="1159470"/>
            <a:ext cx="486657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市场出清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1)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49550" y="1493441"/>
            <a:ext cx="5197835" cy="4893647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不含辅助变量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：各资源向上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中标容量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目标函数：社会福利最大化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在给定调频需求时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则为极小化系统调频成本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包括调频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容量成本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出力调整成本</a:t>
            </a:r>
            <a:endParaRPr lang="en-US" altLang="zh-CN" sz="2000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(7)-(10)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含义与问题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中相同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表示各资源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调频容量成本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(12)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表示资源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中标容量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即机组所有场景向上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出力的最大值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写为不等式的形式以保持模型的线性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给定参数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以及各资源的投标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LP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随机优化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基于随机优化的调频市场出清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7582" y="1599581"/>
            <a:ext cx="5137695" cy="471284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8182722" y="1981200"/>
          <a:ext cx="2758256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95963" imgH="218862" progId="Equation.DSMT4">
                  <p:embed/>
                </p:oleObj>
              </mc:Choice>
              <mc:Fallback>
                <p:oleObj name="Equation" r:id="rId3" imgW="1795963" imgH="218862" progId="Equation.DSMT4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82722" y="1981200"/>
                        <a:ext cx="2758256" cy="33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7821245" y="5547387"/>
          <a:ext cx="1928864" cy="346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7334" imgH="180768" progId="Equation.DSMT4">
                  <p:embed/>
                </p:oleObj>
              </mc:Choice>
              <mc:Fallback>
                <p:oleObj name="Equation" r:id="rId5" imgW="1007334" imgH="180768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21245" y="5547387"/>
                        <a:ext cx="1928864" cy="346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075363"/>
              </p:ext>
            </p:extLst>
          </p:nvPr>
        </p:nvGraphicFramePr>
        <p:xfrm>
          <a:off x="3435163" y="2333912"/>
          <a:ext cx="1375738" cy="451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1250" imgH="180768" progId="Equation.DSMT4">
                  <p:embed/>
                </p:oleObj>
              </mc:Choice>
              <mc:Fallback>
                <p:oleObj name="Equation" r:id="rId7" imgW="551250" imgH="1807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35163" y="2333912"/>
                        <a:ext cx="1375738" cy="451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964392" y="2317751"/>
            <a:ext cx="4764073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记问题</a:t>
            </a:r>
            <a:r>
              <a:rPr lang="en-US" altLang="zh-CN" dirty="0"/>
              <a:t>1</a:t>
            </a:r>
            <a:r>
              <a:rPr lang="zh-CN" altLang="en-US" dirty="0"/>
              <a:t>目标函数为 </a:t>
            </a:r>
            <a:endParaRPr lang="en-US" altLang="zh-CN" dirty="0"/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其中</a:t>
            </a:r>
            <a:r>
              <a:rPr lang="en-US" altLang="zh-CN" dirty="0"/>
              <a:t>:                                               </a:t>
            </a:r>
            <a:r>
              <a:rPr lang="zh-CN" altLang="en-US" dirty="0"/>
              <a:t>为各资源的投标，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/>
              <a:t>为其他问题参数。</a:t>
            </a:r>
            <a:endParaRPr lang="en-US" altLang="zh-CN" dirty="0"/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为各资源向上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中标容量</a:t>
            </a:r>
            <a:endParaRPr lang="en-US" altLang="zh-CN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331197"/>
              </p:ext>
            </p:extLst>
          </p:nvPr>
        </p:nvGraphicFramePr>
        <p:xfrm>
          <a:off x="1986795" y="2683024"/>
          <a:ext cx="2462464" cy="44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7334" imgH="180768" progId="Equation.DSMT4">
                  <p:embed/>
                </p:oleObj>
              </mc:Choice>
              <mc:Fallback>
                <p:oleObj name="Equation" r:id="rId9" imgW="1007334" imgH="1807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6795" y="2683024"/>
                        <a:ext cx="2462464" cy="442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931444"/>
              </p:ext>
            </p:extLst>
          </p:nvPr>
        </p:nvGraphicFramePr>
        <p:xfrm>
          <a:off x="1408781" y="3443017"/>
          <a:ext cx="2974961" cy="362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58526" imgH="336972" progId="Equation.DSMT4">
                  <p:embed/>
                </p:oleObj>
              </mc:Choice>
              <mc:Fallback>
                <p:oleObj name="Equation" r:id="rId3" imgW="2758526" imgH="33697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08781" y="3443017"/>
                        <a:ext cx="2974961" cy="362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334210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2841829" y="757775"/>
            <a:ext cx="290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汇报内容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3775329" y="1475258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4247929"/>
            <a:ext cx="5384463" cy="646331"/>
            <a:chOff x="6841647" y="4201573"/>
            <a:chExt cx="5384463" cy="646331"/>
          </a:xfrm>
        </p:grpSpPr>
        <p:sp>
          <p:nvSpPr>
            <p:cNvPr id="56" name="文本框 5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solidFill>
                    <a:schemeClr val="accent1"/>
                  </a:solidFill>
                  <a:cs typeface="+mn-ea"/>
                  <a:sym typeface="+mn-lt"/>
                </a:rPr>
                <a:t>结算规则及激励相容性分析</a:t>
              </a:r>
            </a:p>
          </p:txBody>
        </p:sp>
        <p:cxnSp>
          <p:nvCxnSpPr>
            <p:cNvPr id="57" name="直接连接符 56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FC629E2-1EA5-48E8-B1FA-48F0D9290E6C}"/>
              </a:ext>
            </a:extLst>
          </p:cNvPr>
          <p:cNvGrpSpPr/>
          <p:nvPr/>
        </p:nvGrpSpPr>
        <p:grpSpPr>
          <a:xfrm>
            <a:off x="2189086" y="1888374"/>
            <a:ext cx="5384463" cy="646331"/>
            <a:chOff x="6841647" y="4201573"/>
            <a:chExt cx="5384463" cy="646331"/>
          </a:xfrm>
        </p:grpSpPr>
        <p:sp>
          <p:nvSpPr>
            <p:cNvPr id="88" name="文本框 8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55E5D7A-6AFD-4651-838A-5D4E4ADD8510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研究背景与动机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89" name="直接连接符 8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AFE57C9-542A-4A57-94C9-67EDC8E9FE8F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2BBF2294-CDAA-4F37-A18C-12ED54F33174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9F7BB3A-1127-4FB9-9BC8-B98C987A73B9}"/>
              </a:ext>
            </a:extLst>
          </p:cNvPr>
          <p:cNvGrpSpPr/>
          <p:nvPr/>
        </p:nvGrpSpPr>
        <p:grpSpPr>
          <a:xfrm>
            <a:off x="2189086" y="2650904"/>
            <a:ext cx="5384463" cy="646331"/>
            <a:chOff x="6841647" y="4201573"/>
            <a:chExt cx="5384463" cy="646331"/>
          </a:xfrm>
        </p:grpSpPr>
        <p:sp>
          <p:nvSpPr>
            <p:cNvPr id="93" name="文本框 9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CC1D400-8E93-4E37-9342-1A4AC729E3E6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所提机制框架</a:t>
              </a:r>
            </a:p>
          </p:txBody>
        </p:sp>
        <p:cxnSp>
          <p:nvCxnSpPr>
            <p:cNvPr id="94" name="直接连接符 93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630301C9-A53E-4928-B693-96C6ABA96668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4C683014-4432-408C-81BB-92B198E8B69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87391FD-B799-471D-A685-942B88FC17BA}"/>
              </a:ext>
            </a:extLst>
          </p:cNvPr>
          <p:cNvGrpSpPr/>
          <p:nvPr/>
        </p:nvGrpSpPr>
        <p:grpSpPr>
          <a:xfrm>
            <a:off x="2189086" y="3413434"/>
            <a:ext cx="5384463" cy="964517"/>
            <a:chOff x="6841647" y="4201573"/>
            <a:chExt cx="5384463" cy="964517"/>
          </a:xfrm>
        </p:grpSpPr>
        <p:sp>
          <p:nvSpPr>
            <p:cNvPr id="97" name="文本框 96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D9CE1E3B-02DE-4694-B8DA-F6656119E644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基于随机优化的调频市场出清</a:t>
              </a:r>
            </a:p>
            <a:p>
              <a:pPr lvl="0">
                <a:defRPr/>
              </a:pP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98" name="直接连接符 97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0C3B934-213C-4E96-AE20-EC3DC8E21123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72EC4A5C-2889-476E-BF52-DFC013053E03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5129078"/>
            <a:ext cx="5384463" cy="646331"/>
            <a:chOff x="6841647" y="4201573"/>
            <a:chExt cx="5384463" cy="646331"/>
          </a:xfrm>
        </p:grpSpPr>
        <p:sp>
          <p:nvSpPr>
            <p:cNvPr id="38" name="文本框 3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算例分析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9" name="直接连接符 3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05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02300523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655328" y="1296611"/>
            <a:ext cx="5259950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调频收入</a:t>
            </a:r>
          </a:p>
        </p:txBody>
      </p:sp>
      <p:sp>
        <p:nvSpPr>
          <p:cNvPr id="11" name="矩形 10"/>
          <p:cNvSpPr/>
          <p:nvPr/>
        </p:nvSpPr>
        <p:spPr>
          <a:xfrm>
            <a:off x="6360263" y="1796350"/>
            <a:ext cx="5197835" cy="2893100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调频收入包括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容量收入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出力调整收入</a:t>
            </a:r>
            <a:endParaRPr lang="en-US" altLang="zh-CN" sz="2000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市场出清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调频时段结束后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边际出清价格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基于各资源的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实际调用情况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结算各机组收入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实际调用情况由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调频功率优化分配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中所给出的各资源调整功率量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考核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具体计量沿用现有技术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)｡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结算规则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68516" y="1844984"/>
            <a:ext cx="5446762" cy="278080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613300"/>
              </p:ext>
            </p:extLst>
          </p:nvPr>
        </p:nvGraphicFramePr>
        <p:xfrm>
          <a:off x="655328" y="1993220"/>
          <a:ext cx="5213333" cy="523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240" imgH="317160" progId="Equation.DSMT4">
                  <p:embed/>
                </p:oleObj>
              </mc:Choice>
              <mc:Fallback>
                <p:oleObj name="Equation" r:id="rId3" imgW="316224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328" y="1993220"/>
                        <a:ext cx="5213333" cy="5234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9" y="2551806"/>
            <a:ext cx="4911754" cy="20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6880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655328" y="1296611"/>
            <a:ext cx="5259950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市场主体最优投标问题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2)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60262" y="1796350"/>
            <a:ext cx="5482113" cy="2092881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 的投标决策问题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2(14)-(16))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决策变量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记问题</a:t>
            </a:r>
            <a:r>
              <a:rPr lang="en-US" altLang="zh-CN" sz="2000" dirty="0"/>
              <a:t>2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目标函数</a:t>
            </a:r>
            <a:r>
              <a:rPr lang="zh-CN" altLang="en-US" sz="2000" dirty="0"/>
              <a:t>为 </a:t>
            </a:r>
            <a:endParaRPr lang="en-US" altLang="zh-CN" sz="2000" dirty="0"/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其中</a:t>
            </a:r>
            <a:r>
              <a:rPr lang="en-US" altLang="zh-CN" sz="2000" dirty="0"/>
              <a:t>:                                               </a:t>
            </a:r>
            <a:r>
              <a:rPr lang="zh-CN" altLang="en-US" sz="2000" dirty="0"/>
              <a:t>为资源的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真实成本</a:t>
            </a:r>
            <a:r>
              <a:rPr lang="en-US" altLang="zh-CN" sz="2000" dirty="0"/>
              <a:t>,       </a:t>
            </a:r>
            <a:r>
              <a:rPr lang="zh-CN" altLang="en-US" sz="2000" dirty="0"/>
              <a:t>为除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/>
              <a:t>外其他资源投标</a:t>
            </a:r>
            <a:r>
              <a:rPr lang="en-US" altLang="zh-CN" sz="2000" dirty="0"/>
              <a:t>,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/>
              <a:t>为问题参数</a:t>
            </a:r>
            <a:r>
              <a:rPr lang="en-US" altLang="zh-CN" sz="2000" dirty="0"/>
              <a:t>｡</a:t>
            </a:r>
            <a:endParaRPr lang="en-US" altLang="zh-CN" sz="2000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市场主体投标策略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68516" y="1844984"/>
            <a:ext cx="5446762" cy="437652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230871"/>
              </p:ext>
            </p:extLst>
          </p:nvPr>
        </p:nvGraphicFramePr>
        <p:xfrm>
          <a:off x="8136195" y="2254027"/>
          <a:ext cx="3161926" cy="37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960" imgH="253800" progId="Equation.DSMT4">
                  <p:embed/>
                </p:oleObj>
              </mc:Choice>
              <mc:Fallback>
                <p:oleObj name="Equation" r:id="rId3" imgW="2145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36195" y="2254027"/>
                        <a:ext cx="3161926" cy="37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49" y="1976625"/>
            <a:ext cx="5196696" cy="405122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771747" y="4171411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(ISO</a:t>
            </a:r>
            <a:r>
              <a:rPr lang="zh-CN" altLang="en-US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出清模型</a:t>
            </a:r>
            <a:r>
              <a:rPr lang="en-US" altLang="zh-CN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dirty="0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997751"/>
              </p:ext>
            </p:extLst>
          </p:nvPr>
        </p:nvGraphicFramePr>
        <p:xfrm>
          <a:off x="8959180" y="2672645"/>
          <a:ext cx="2069455" cy="371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7334" imgH="180768" progId="Equation.DSMT4">
                  <p:embed/>
                </p:oleObj>
              </mc:Choice>
              <mc:Fallback>
                <p:oleObj name="Equation" r:id="rId6" imgW="1007334" imgH="1807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59180" y="2672645"/>
                        <a:ext cx="2069455" cy="371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693069"/>
              </p:ext>
            </p:extLst>
          </p:nvPr>
        </p:nvGraphicFramePr>
        <p:xfrm>
          <a:off x="7426569" y="3044169"/>
          <a:ext cx="2620238" cy="377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9501" imgH="275644" progId="Equation.DSMT4">
                  <p:embed/>
                </p:oleObj>
              </mc:Choice>
              <mc:Fallback>
                <p:oleObj name="Equation" r:id="rId8" imgW="1919501" imgH="27564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26569" y="3044169"/>
                        <a:ext cx="2620238" cy="377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027556"/>
              </p:ext>
            </p:extLst>
          </p:nvPr>
        </p:nvGraphicFramePr>
        <p:xfrm>
          <a:off x="7461858" y="3456999"/>
          <a:ext cx="368392" cy="36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0638" imgH="180768" progId="Equation.DSMT4">
                  <p:embed/>
                </p:oleObj>
              </mc:Choice>
              <mc:Fallback>
                <p:oleObj name="Equation" r:id="rId10" imgW="180638" imgH="1807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61858" y="3456999"/>
                        <a:ext cx="368392" cy="368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95999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655328" y="1296611"/>
            <a:ext cx="5259950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市场主体最优投标问题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2)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60262" y="1796350"/>
            <a:ext cx="5482113" cy="2092881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 的投标决策问题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2(14)-(16))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决策变量为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记问题</a:t>
            </a:r>
            <a:r>
              <a:rPr lang="en-US" altLang="zh-CN" sz="2000" dirty="0"/>
              <a:t>2</a:t>
            </a:r>
            <a:r>
              <a:rPr lang="zh-CN" altLang="en-US" sz="2000" dirty="0"/>
              <a:t>目标函数为 </a:t>
            </a:r>
            <a:endParaRPr lang="en-US" altLang="zh-CN" sz="2000" dirty="0"/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其中</a:t>
            </a:r>
            <a:r>
              <a:rPr lang="en-US" altLang="zh-CN" sz="2000" dirty="0"/>
              <a:t>:                                               </a:t>
            </a:r>
            <a:r>
              <a:rPr lang="zh-CN" altLang="en-US" sz="2000" dirty="0"/>
              <a:t>为资源的真实成本为</a:t>
            </a:r>
            <a:r>
              <a:rPr lang="en-US" altLang="zh-CN" sz="2000" dirty="0"/>
              <a:t>,       </a:t>
            </a:r>
            <a:r>
              <a:rPr lang="zh-CN" altLang="en-US" sz="2000" dirty="0"/>
              <a:t>为其他资源投标</a:t>
            </a:r>
            <a:r>
              <a:rPr lang="en-US" altLang="zh-CN" sz="2000" dirty="0"/>
              <a:t>,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/>
              <a:t>为问题参数</a:t>
            </a:r>
            <a:r>
              <a:rPr lang="en-US" altLang="zh-CN" sz="2000" dirty="0"/>
              <a:t>｡</a:t>
            </a:r>
            <a:endParaRPr lang="en-US" altLang="zh-CN" sz="2000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市场主体投标策略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8136195" y="2254027"/>
          <a:ext cx="3161926" cy="37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960" imgH="253800" progId="Equation.DSMT4">
                  <p:embed/>
                </p:oleObj>
              </mc:Choice>
              <mc:Fallback>
                <p:oleObj name="Equation" r:id="rId3" imgW="2145960" imgH="2538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36195" y="2254027"/>
                        <a:ext cx="3161926" cy="374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8959180" y="2672645"/>
          <a:ext cx="2069455" cy="371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7334" imgH="180768" progId="Equation.DSMT4">
                  <p:embed/>
                </p:oleObj>
              </mc:Choice>
              <mc:Fallback>
                <p:oleObj name="Equation" r:id="rId5" imgW="1007334" imgH="180768" progId="Equation.DSMT4">
                  <p:embed/>
                  <p:pic>
                    <p:nvPicPr>
                      <p:cNvPr id="30" name="对象 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59180" y="2672645"/>
                        <a:ext cx="2069455" cy="371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7426569" y="3044169"/>
          <a:ext cx="2620238" cy="377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19501" imgH="275644" progId="Equation.DSMT4">
                  <p:embed/>
                </p:oleObj>
              </mc:Choice>
              <mc:Fallback>
                <p:oleObj name="Equation" r:id="rId7" imgW="1919501" imgH="275644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26569" y="3044169"/>
                        <a:ext cx="2620238" cy="377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690878" y="3467927"/>
          <a:ext cx="368392" cy="36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0638" imgH="180768" progId="Equation.DSMT4">
                  <p:embed/>
                </p:oleObj>
              </mc:Choice>
              <mc:Fallback>
                <p:oleObj name="Equation" r:id="rId9" imgW="180638" imgH="180768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90878" y="3467927"/>
                        <a:ext cx="368392" cy="368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6232927" y="3925820"/>
            <a:ext cx="5259950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市场主体最优投标问题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2)</a:t>
            </a:r>
            <a:endParaRPr lang="zh-CN" altLang="en-US" sz="2200" b="1" dirty="0">
              <a:latin typeface="+mj-ea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845074"/>
              </p:ext>
            </p:extLst>
          </p:nvPr>
        </p:nvGraphicFramePr>
        <p:xfrm>
          <a:off x="7426569" y="4402168"/>
          <a:ext cx="2599984" cy="513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520" imgH="203040" progId="Equation.DSMT4">
                  <p:embed/>
                </p:oleObj>
              </mc:Choice>
              <mc:Fallback>
                <p:oleObj name="Equation" r:id="rId11" imgW="1028520" imgH="203040" progId="Equation.DSMT4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26569" y="4402168"/>
                        <a:ext cx="2599984" cy="513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399657"/>
              </p:ext>
            </p:extLst>
          </p:nvPr>
        </p:nvGraphicFramePr>
        <p:xfrm>
          <a:off x="7426569" y="5401264"/>
          <a:ext cx="2632149" cy="54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7760" imgH="203040" progId="Equation.DSMT4">
                  <p:embed/>
                </p:oleObj>
              </mc:Choice>
              <mc:Fallback>
                <p:oleObj name="Equation" r:id="rId13" imgW="977760" imgH="203040" progId="Equation.DSMT4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26569" y="5401264"/>
                        <a:ext cx="2632149" cy="546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8202839" y="4507406"/>
            <a:ext cx="279325" cy="40833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898618" y="5522182"/>
            <a:ext cx="207028" cy="408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6293276" y="5901270"/>
            <a:ext cx="486657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市场出清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1)</a:t>
            </a:r>
            <a:endParaRPr lang="zh-CN" altLang="en-US" sz="2200" b="1" dirty="0">
              <a:latin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841" y="1976625"/>
            <a:ext cx="5624648" cy="2852544"/>
          </a:xfrm>
          <a:prstGeom prst="rect">
            <a:avLst/>
          </a:prstGeom>
        </p:spPr>
      </p:pic>
      <p:cxnSp>
        <p:nvCxnSpPr>
          <p:cNvPr id="33" name="直接箭头连接符 32"/>
          <p:cNvCxnSpPr/>
          <p:nvPr/>
        </p:nvCxnSpPr>
        <p:spPr>
          <a:xfrm>
            <a:off x="8471490" y="4898851"/>
            <a:ext cx="847148" cy="6696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7970219" y="4816166"/>
            <a:ext cx="23563" cy="6880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852018" y="4915745"/>
            <a:ext cx="4866570" cy="129266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000" dirty="0"/>
              <a:t>投标问题可以建模为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主从博弈</a:t>
            </a:r>
            <a:r>
              <a:rPr lang="zh-CN" altLang="en-US" sz="2000" dirty="0"/>
              <a:t>。从市场时序上</a:t>
            </a:r>
            <a:r>
              <a:rPr lang="en-US" altLang="zh-CN" sz="2000" dirty="0"/>
              <a:t>,</a:t>
            </a:r>
            <a:r>
              <a:rPr lang="zh-CN" altLang="en-US" sz="2000" dirty="0"/>
              <a:t>各资源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先决定投标内容</a:t>
            </a:r>
            <a:r>
              <a:rPr lang="en-US" altLang="zh-CN" sz="2000" dirty="0"/>
              <a:t>,</a:t>
            </a:r>
            <a:r>
              <a:rPr lang="zh-CN" altLang="en-US" sz="2000" dirty="0"/>
              <a:t>为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领导者</a:t>
            </a:r>
            <a:r>
              <a:rPr lang="en-US" altLang="zh-CN" sz="2000" dirty="0"/>
              <a:t>;ISO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后组织市场出清</a:t>
            </a:r>
            <a:r>
              <a:rPr lang="en-US" altLang="zh-CN" sz="2000" dirty="0"/>
              <a:t>,</a:t>
            </a:r>
            <a:r>
              <a:rPr lang="zh-CN" altLang="en-US" sz="2000" dirty="0"/>
              <a:t>为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跟随者</a:t>
            </a:r>
            <a:r>
              <a:rPr lang="en-US" altLang="zh-CN" sz="2000" dirty="0"/>
              <a:t>｡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1167768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468516" y="1402133"/>
            <a:ext cx="5259950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市场主体最优投标问题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2)</a:t>
            </a:r>
            <a:endParaRPr lang="zh-CN" altLang="en-US" sz="2200" b="1" dirty="0">
              <a:latin typeface="+mj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激励相容性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115115"/>
              </p:ext>
            </p:extLst>
          </p:nvPr>
        </p:nvGraphicFramePr>
        <p:xfrm>
          <a:off x="1662158" y="1878481"/>
          <a:ext cx="2599984" cy="513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03040" progId="Equation.DSMT4">
                  <p:embed/>
                </p:oleObj>
              </mc:Choice>
              <mc:Fallback>
                <p:oleObj name="Equation" r:id="rId3" imgW="1028520" imgH="203040" progId="Equation.DSMT4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2158" y="1878481"/>
                        <a:ext cx="2599984" cy="513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471261"/>
              </p:ext>
            </p:extLst>
          </p:nvPr>
        </p:nvGraphicFramePr>
        <p:xfrm>
          <a:off x="1662158" y="2877577"/>
          <a:ext cx="2632149" cy="54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760" imgH="203040" progId="Equation.DSMT4">
                  <p:embed/>
                </p:oleObj>
              </mc:Choice>
              <mc:Fallback>
                <p:oleObj name="Equation" r:id="rId5" imgW="977760" imgH="203040" progId="Equation.DSMT4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2158" y="2877577"/>
                        <a:ext cx="2632149" cy="546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/>
          <p:cNvSpPr/>
          <p:nvPr/>
        </p:nvSpPr>
        <p:spPr>
          <a:xfrm>
            <a:off x="2438428" y="1983719"/>
            <a:ext cx="279325" cy="40833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>
            <a:stCxn id="39" idx="2"/>
          </p:cNvCxnSpPr>
          <p:nvPr/>
        </p:nvCxnSpPr>
        <p:spPr>
          <a:xfrm>
            <a:off x="2578091" y="2392058"/>
            <a:ext cx="19363" cy="6111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134207" y="2998495"/>
            <a:ext cx="207028" cy="408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528865" y="3377583"/>
            <a:ext cx="486657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市场出清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1)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28466" y="1530349"/>
            <a:ext cx="6122875" cy="4893647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激励相容性：各市场主体最优投标策略为按照真实成本报价。即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完全竞争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任意单独资源的报价不改变调频容量边际价格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调频出力边际价格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调频需求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预测一致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调频需求参数   是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公共知识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为了表述方便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下文中省去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可表达性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任意资源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用所提机制的投标结构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真实表示其成本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凸函数、线性逼近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真实报量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在假设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的前提下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资源真实申报出力调整成本量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价对中的各功率段长度。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策略性报价的部分在于成本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793002"/>
              </p:ext>
            </p:extLst>
          </p:nvPr>
        </p:nvGraphicFramePr>
        <p:xfrm>
          <a:off x="7736907" y="1976625"/>
          <a:ext cx="3986577" cy="704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26920" imgH="304560" progId="Equation.DSMT4">
                  <p:embed/>
                </p:oleObj>
              </mc:Choice>
              <mc:Fallback>
                <p:oleObj name="Equation" r:id="rId7" imgW="17269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36907" y="1976625"/>
                        <a:ext cx="3986577" cy="704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121317"/>
              </p:ext>
            </p:extLst>
          </p:nvPr>
        </p:nvGraphicFramePr>
        <p:xfrm>
          <a:off x="10571256" y="3631042"/>
          <a:ext cx="302932" cy="330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" imgH="152280" progId="Equation.DSMT4">
                  <p:embed/>
                </p:oleObj>
              </mc:Choice>
              <mc:Fallback>
                <p:oleObj name="Equation" r:id="rId9" imgW="1396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71256" y="3631042"/>
                        <a:ext cx="302932" cy="3304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615308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468516" y="1402133"/>
            <a:ext cx="5259950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市场主体最优投标问题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2)</a:t>
            </a:r>
            <a:endParaRPr lang="zh-CN" altLang="en-US" sz="2200" b="1" dirty="0">
              <a:latin typeface="+mj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激励相容性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1662158" y="1878481"/>
          <a:ext cx="2599984" cy="513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03040" progId="Equation.DSMT4">
                  <p:embed/>
                </p:oleObj>
              </mc:Choice>
              <mc:Fallback>
                <p:oleObj name="Equation" r:id="rId3" imgW="1028520" imgH="203040" progId="Equation.DSMT4">
                  <p:embed/>
                  <p:pic>
                    <p:nvPicPr>
                      <p:cNvPr id="36" name="对象 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62158" y="1878481"/>
                        <a:ext cx="2599984" cy="513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1662158" y="2877577"/>
          <a:ext cx="2632149" cy="54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760" imgH="203040" progId="Equation.DSMT4">
                  <p:embed/>
                </p:oleObj>
              </mc:Choice>
              <mc:Fallback>
                <p:oleObj name="Equation" r:id="rId5" imgW="977760" imgH="203040" progId="Equation.DSMT4">
                  <p:embed/>
                  <p:pic>
                    <p:nvPicPr>
                      <p:cNvPr id="37" name="对象 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2158" y="2877577"/>
                        <a:ext cx="2632149" cy="546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矩形 38"/>
          <p:cNvSpPr/>
          <p:nvPr/>
        </p:nvSpPr>
        <p:spPr>
          <a:xfrm>
            <a:off x="2438428" y="1983719"/>
            <a:ext cx="279325" cy="40833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>
            <a:stCxn id="39" idx="2"/>
          </p:cNvCxnSpPr>
          <p:nvPr/>
        </p:nvCxnSpPr>
        <p:spPr>
          <a:xfrm>
            <a:off x="2578091" y="2392058"/>
            <a:ext cx="19363" cy="6111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134207" y="2998495"/>
            <a:ext cx="207028" cy="408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528865" y="3377583"/>
            <a:ext cx="486657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市场出清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1)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728466" y="1530349"/>
            <a:ext cx="6122875" cy="3293209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引理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完全竞争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仅考虑资源</a:t>
            </a:r>
            <a:r>
              <a:rPr lang="en-US" altLang="zh-CN" sz="2000" b="1" kern="0" dirty="0" err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的中标量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与下述问题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约束与问题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可表示为：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 indent="-3420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证明思路：完全竞争条件下化简。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760926" y="2368523"/>
          <a:ext cx="4220840" cy="909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55863" imgH="551647" progId="Equation.DSMT4">
                  <p:embed/>
                </p:oleObj>
              </mc:Choice>
              <mc:Fallback>
                <p:oleObj name="Equation" r:id="rId7" imgW="2555863" imgH="551647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60926" y="2368523"/>
                        <a:ext cx="4220840" cy="909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030409"/>
              </p:ext>
            </p:extLst>
          </p:nvPr>
        </p:nvGraphicFramePr>
        <p:xfrm>
          <a:off x="7548655" y="3584792"/>
          <a:ext cx="2522950" cy="560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15654" imgH="313738" progId="Equation.DSMT4">
                  <p:embed/>
                </p:oleObj>
              </mc:Choice>
              <mc:Fallback>
                <p:oleObj name="Equation" r:id="rId9" imgW="1415654" imgH="31373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48655" y="3584792"/>
                        <a:ext cx="2522950" cy="5600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46203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547385" y="6433723"/>
            <a:ext cx="590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8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zh-CN" altLang="en-US" sz="180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468515" y="1402133"/>
            <a:ext cx="7949343" cy="4895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市场主体最优投标问题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2)</a:t>
            </a:r>
            <a:r>
              <a:rPr lang="en-US" altLang="zh-CN" sz="2000" dirty="0">
                <a:latin typeface="+mj-ea"/>
              </a:rPr>
              <a:t>(</a:t>
            </a:r>
            <a:r>
              <a:rPr lang="zh-CN" altLang="en-US" sz="2000" dirty="0">
                <a:latin typeface="+mj-ea"/>
              </a:rPr>
              <a:t>目标函数写成最小化形式</a:t>
            </a:r>
            <a:r>
              <a:rPr lang="en-US" altLang="zh-CN" sz="2000" dirty="0">
                <a:latin typeface="+mj-ea"/>
              </a:rPr>
              <a:t>)</a:t>
            </a:r>
            <a:endParaRPr lang="zh-CN" altLang="en-US" sz="2000" dirty="0">
              <a:latin typeface="+mj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E3DE50-2451-47F9-908D-9F3EF8C21538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90E30881-3990-46FF-91CA-94D01503D6EE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激励相容性</a:t>
              </a:r>
            </a:p>
          </p:txBody>
        </p:sp>
        <p:cxnSp>
          <p:nvCxnSpPr>
            <p:cNvPr id="14" name="直接连接符 1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A526BB72-6057-486D-80AA-11C7C4AFFF3A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E954DD-450F-44BB-989A-98F4B59E2598}"/>
              </a:ext>
            </a:extLst>
          </p:cNvPr>
          <p:cNvCxnSpPr>
            <a:cxnSpLocks/>
          </p:cNvCxnSpPr>
          <p:nvPr/>
        </p:nvCxnSpPr>
        <p:spPr>
          <a:xfrm>
            <a:off x="468516" y="636180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2959520" y="2239950"/>
            <a:ext cx="156144" cy="32578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/>
          <p:nvPr/>
        </p:nvCxnSpPr>
        <p:spPr>
          <a:xfrm>
            <a:off x="3059683" y="2542391"/>
            <a:ext cx="875823" cy="69043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1697456" y="3101619"/>
            <a:ext cx="229955" cy="2759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C6CD64-6B87-4ACA-91FE-5A02C1F565AE}"/>
              </a:ext>
            </a:extLst>
          </p:cNvPr>
          <p:cNvSpPr/>
          <p:nvPr/>
        </p:nvSpPr>
        <p:spPr>
          <a:xfrm>
            <a:off x="526234" y="3436804"/>
            <a:ext cx="4866570" cy="53245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200" b="1" dirty="0">
                <a:latin typeface="+mj-ea"/>
              </a:rPr>
              <a:t>市场出清</a:t>
            </a:r>
            <a:r>
              <a:rPr lang="en-US" altLang="zh-CN" sz="2200" b="1" dirty="0">
                <a:latin typeface="+mj-ea"/>
              </a:rPr>
              <a:t>(</a:t>
            </a:r>
            <a:r>
              <a:rPr lang="zh-CN" altLang="en-US" sz="2200" b="1" dirty="0">
                <a:latin typeface="+mj-ea"/>
              </a:rPr>
              <a:t>问题</a:t>
            </a:r>
            <a:r>
              <a:rPr lang="en-US" altLang="zh-CN" sz="2200" b="1" dirty="0">
                <a:latin typeface="+mj-ea"/>
              </a:rPr>
              <a:t>1)</a:t>
            </a:r>
            <a:endParaRPr lang="zh-CN" altLang="en-US" sz="2200" b="1" dirty="0">
              <a:latin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04067" y="4065497"/>
            <a:ext cx="4724399" cy="853567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激励相容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完全竞争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按照真实成本报价为资源的最优投标策略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｡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325162"/>
              </p:ext>
            </p:extLst>
          </p:nvPr>
        </p:nvGraphicFramePr>
        <p:xfrm>
          <a:off x="4751338" y="3000326"/>
          <a:ext cx="4367549" cy="941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5863" imgH="551647" progId="Equation.DSMT4">
                  <p:embed/>
                </p:oleObj>
              </mc:Choice>
              <mc:Fallback>
                <p:oleObj name="Equation" r:id="rId3" imgW="2555863" imgH="551647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51338" y="3000326"/>
                        <a:ext cx="4367549" cy="941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839440"/>
              </p:ext>
            </p:extLst>
          </p:nvPr>
        </p:nvGraphicFramePr>
        <p:xfrm>
          <a:off x="1697457" y="3025472"/>
          <a:ext cx="252412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3788" imgH="560900" progId="Equation.DSMT4">
                  <p:embed/>
                </p:oleObj>
              </mc:Choice>
              <mc:Fallback>
                <p:oleObj name="Equation" r:id="rId5" imgW="2523788" imgH="5609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7457" y="3025472"/>
                        <a:ext cx="2524125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439633"/>
              </p:ext>
            </p:extLst>
          </p:nvPr>
        </p:nvGraphicFramePr>
        <p:xfrm>
          <a:off x="4751338" y="1950119"/>
          <a:ext cx="4341981" cy="90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41333" imgH="551647" progId="Equation.DSMT4">
                  <p:embed/>
                </p:oleObj>
              </mc:Choice>
              <mc:Fallback>
                <p:oleObj name="Equation" r:id="rId7" imgW="2641333" imgH="5516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51338" y="1950119"/>
                        <a:ext cx="4341981" cy="90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335014"/>
              </p:ext>
            </p:extLst>
          </p:nvPr>
        </p:nvGraphicFramePr>
        <p:xfrm>
          <a:off x="2216025" y="2097891"/>
          <a:ext cx="1492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600" imgH="215640" progId="Equation.DSMT4">
                  <p:embed/>
                </p:oleObj>
              </mc:Choice>
              <mc:Fallback>
                <p:oleObj name="Equation" r:id="rId9" imgW="723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16025" y="2097891"/>
                        <a:ext cx="149225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箭头连接符 23"/>
          <p:cNvCxnSpPr/>
          <p:nvPr/>
        </p:nvCxnSpPr>
        <p:spPr>
          <a:xfrm flipV="1">
            <a:off x="1812433" y="2450387"/>
            <a:ext cx="824152" cy="64838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292106" y="1972923"/>
            <a:ext cx="436360" cy="32578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256931" y="3051796"/>
            <a:ext cx="561602" cy="32578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2328" y="4065497"/>
            <a:ext cx="4137987" cy="222439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130691" y="4013574"/>
            <a:ext cx="877163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证明：</a:t>
            </a:r>
          </a:p>
        </p:txBody>
      </p:sp>
      <p:sp>
        <p:nvSpPr>
          <p:cNvPr id="28" name="矩形 27"/>
          <p:cNvSpPr/>
          <p:nvPr/>
        </p:nvSpPr>
        <p:spPr>
          <a:xfrm>
            <a:off x="6115001" y="4015789"/>
            <a:ext cx="4966955" cy="2274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9298971" y="2570769"/>
            <a:ext cx="1812432" cy="923330"/>
            <a:chOff x="9599639" y="2039440"/>
            <a:chExt cx="1812432" cy="923330"/>
          </a:xfrm>
        </p:grpSpPr>
        <p:sp>
          <p:nvSpPr>
            <p:cNvPr id="16" name="矩形 15"/>
            <p:cNvSpPr/>
            <p:nvPr/>
          </p:nvSpPr>
          <p:spPr>
            <a:xfrm>
              <a:off x="9599639" y="2039440"/>
              <a:ext cx="181243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目标函数差异仅仅在于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dirty="0"/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642903"/>
                </p:ext>
              </p:extLst>
            </p:nvPr>
          </p:nvGraphicFramePr>
          <p:xfrm>
            <a:off x="10362589" y="2274689"/>
            <a:ext cx="713655" cy="496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1960" imgH="203040" progId="Equation.DSMT4">
                    <p:embed/>
                  </p:oleObj>
                </mc:Choice>
                <mc:Fallback>
                  <p:oleObj name="Equation" r:id="rId12" imgW="2919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0362589" y="2274689"/>
                          <a:ext cx="713655" cy="4964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245081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2841829" y="757775"/>
            <a:ext cx="290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汇报内容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3775329" y="1475258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4247929"/>
            <a:ext cx="5384463" cy="646331"/>
            <a:chOff x="6841647" y="4201573"/>
            <a:chExt cx="5384463" cy="646331"/>
          </a:xfrm>
        </p:grpSpPr>
        <p:sp>
          <p:nvSpPr>
            <p:cNvPr id="56" name="文本框 5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结算规则及激励相容性分析</a:t>
              </a:r>
            </a:p>
          </p:txBody>
        </p:sp>
        <p:cxnSp>
          <p:nvCxnSpPr>
            <p:cNvPr id="57" name="直接连接符 56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FC629E2-1EA5-48E8-B1FA-48F0D9290E6C}"/>
              </a:ext>
            </a:extLst>
          </p:cNvPr>
          <p:cNvGrpSpPr/>
          <p:nvPr/>
        </p:nvGrpSpPr>
        <p:grpSpPr>
          <a:xfrm>
            <a:off x="2189086" y="1888374"/>
            <a:ext cx="5384463" cy="646331"/>
            <a:chOff x="6841647" y="4201573"/>
            <a:chExt cx="5384463" cy="646331"/>
          </a:xfrm>
        </p:grpSpPr>
        <p:sp>
          <p:nvSpPr>
            <p:cNvPr id="88" name="文本框 8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55E5D7A-6AFD-4651-838A-5D4E4ADD8510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研究背景与动机</a:t>
              </a: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89" name="直接连接符 8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AFE57C9-542A-4A57-94C9-67EDC8E9FE8F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2BBF2294-CDAA-4F37-A18C-12ED54F33174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9F7BB3A-1127-4FB9-9BC8-B98C987A73B9}"/>
              </a:ext>
            </a:extLst>
          </p:cNvPr>
          <p:cNvGrpSpPr/>
          <p:nvPr/>
        </p:nvGrpSpPr>
        <p:grpSpPr>
          <a:xfrm>
            <a:off x="2189086" y="2650904"/>
            <a:ext cx="5384463" cy="646331"/>
            <a:chOff x="6841647" y="4201573"/>
            <a:chExt cx="5384463" cy="646331"/>
          </a:xfrm>
        </p:grpSpPr>
        <p:sp>
          <p:nvSpPr>
            <p:cNvPr id="93" name="文本框 92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9CC1D400-8E93-4E37-9342-1A4AC729E3E6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所提机制框架</a:t>
              </a:r>
            </a:p>
          </p:txBody>
        </p:sp>
        <p:cxnSp>
          <p:nvCxnSpPr>
            <p:cNvPr id="94" name="直接连接符 93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630301C9-A53E-4928-B693-96C6ABA96668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4C683014-4432-408C-81BB-92B198E8B69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87391FD-B799-471D-A685-942B88FC17BA}"/>
              </a:ext>
            </a:extLst>
          </p:cNvPr>
          <p:cNvGrpSpPr/>
          <p:nvPr/>
        </p:nvGrpSpPr>
        <p:grpSpPr>
          <a:xfrm>
            <a:off x="2189086" y="3413434"/>
            <a:ext cx="5384463" cy="964517"/>
            <a:chOff x="6841647" y="4201573"/>
            <a:chExt cx="5384463" cy="964517"/>
          </a:xfrm>
        </p:grpSpPr>
        <p:sp>
          <p:nvSpPr>
            <p:cNvPr id="97" name="文本框 96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D9CE1E3B-02DE-4694-B8DA-F6656119E644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600" b="1" dirty="0">
                  <a:cs typeface="+mn-ea"/>
                  <a:sym typeface="+mn-lt"/>
                </a:rPr>
                <a:t>基于随机优化的调频市场出清</a:t>
              </a:r>
            </a:p>
            <a:p>
              <a:pPr lvl="0">
                <a:defRPr/>
              </a:pPr>
              <a:endParaRPr kumimoji="0" lang="zh-CN" alt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98" name="直接连接符 97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A0C3B934-213C-4E96-AE20-EC3DC8E21123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72EC4A5C-2889-476E-BF52-DFC013053E03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6AC2CDE-3D20-4748-BB56-2876C6E466A0}"/>
              </a:ext>
            </a:extLst>
          </p:cNvPr>
          <p:cNvGrpSpPr/>
          <p:nvPr/>
        </p:nvGrpSpPr>
        <p:grpSpPr>
          <a:xfrm>
            <a:off x="2189086" y="5129078"/>
            <a:ext cx="5384463" cy="646331"/>
            <a:chOff x="6841647" y="4201573"/>
            <a:chExt cx="5384463" cy="646331"/>
          </a:xfrm>
        </p:grpSpPr>
        <p:sp>
          <p:nvSpPr>
            <p:cNvPr id="38" name="文本框 37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CBE10483-E974-4873-B38F-D2C002DF47F5}"/>
                </a:ext>
              </a:extLst>
            </p:cNvPr>
            <p:cNvSpPr txBox="1"/>
            <p:nvPr/>
          </p:nvSpPr>
          <p:spPr>
            <a:xfrm>
              <a:off x="7719389" y="4273538"/>
              <a:ext cx="45067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zh-CN" altLang="en-US" sz="2600" b="1" dirty="0">
                  <a:solidFill>
                    <a:schemeClr val="accent1"/>
                  </a:solidFill>
                  <a:cs typeface="+mn-ea"/>
                  <a:sym typeface="+mn-lt"/>
                </a:rPr>
                <a:t>算例分析</a:t>
              </a:r>
            </a:p>
          </p:txBody>
        </p:sp>
        <p:cxnSp>
          <p:nvCxnSpPr>
            <p:cNvPr id="39" name="直接连接符 38" descr="e7d195523061f1c0220a3acd2f99070e22f7f2176c6c61f4AB5BC6AF3DF28E09514168BD2F6654DA4347BEC42B9A9B38EB2139F52FD80B94EB8F1B847F5BC18ECD11DB8433CCABD6DAEA8D49E99C31D30DD985C7E7F6586801F1A9D4A6731C7B808AD6DE936560B66AF9ABAFD27B4F14F2216738F2BDCF8E8980047CD5FC5117A8630BC284B82A52">
              <a:extLst>
                <a:ext uri="{FF2B5EF4-FFF2-40B4-BE49-F238E27FC236}">
                  <a16:creationId xmlns:a16="http://schemas.microsoft.com/office/drawing/2014/main" id="{0763271B-E7D3-40CE-8541-4A9854D53B20}"/>
                </a:ext>
              </a:extLst>
            </p:cNvPr>
            <p:cNvCxnSpPr/>
            <p:nvPr/>
          </p:nvCxnSpPr>
          <p:spPr>
            <a:xfrm>
              <a:off x="7586520" y="4248227"/>
              <a:ext cx="0" cy="553025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  <a:extLst>
                <a:ext uri="{FF2B5EF4-FFF2-40B4-BE49-F238E27FC236}">
                  <a16:creationId xmlns:a16="http://schemas.microsoft.com/office/drawing/2014/main" id="{09C99BDB-0605-46CF-94BB-6E3CAC33B982}"/>
                </a:ext>
              </a:extLst>
            </p:cNvPr>
            <p:cNvSpPr txBox="1"/>
            <p:nvPr/>
          </p:nvSpPr>
          <p:spPr>
            <a:xfrm>
              <a:off x="6841647" y="4201573"/>
              <a:ext cx="6527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05</a:t>
              </a:r>
              <a:endPara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1169494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454761" y="6441948"/>
            <a:ext cx="624537" cy="343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4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515" y="1306585"/>
            <a:ext cx="10986246" cy="2092881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分别采用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PJM</a:t>
            </a:r>
            <a:r>
              <a:rPr lang="zh-CN" altLang="en-US" sz="2000" dirty="0">
                <a:latin typeface="+mj-ea"/>
                <a:ea typeface="+mj-ea"/>
              </a:rPr>
              <a:t>模型</a:t>
            </a:r>
            <a:r>
              <a:rPr lang="en-US" altLang="zh-CN" sz="2000" dirty="0">
                <a:latin typeface="+mj-ea"/>
                <a:ea typeface="+mj-ea"/>
              </a:rPr>
              <a:t> (</a:t>
            </a:r>
            <a:r>
              <a:rPr lang="zh-CN" altLang="en-US" sz="2000" dirty="0">
                <a:latin typeface="+mj-ea"/>
                <a:ea typeface="+mj-ea"/>
              </a:rPr>
              <a:t>现有机制</a:t>
            </a:r>
            <a:r>
              <a:rPr lang="en-US" altLang="zh-CN" sz="2000" dirty="0">
                <a:latin typeface="+mj-ea"/>
                <a:ea typeface="+mj-ea"/>
              </a:rPr>
              <a:t>)</a:t>
            </a:r>
            <a:r>
              <a:rPr lang="zh-CN" altLang="en-US" sz="2000" dirty="0">
                <a:latin typeface="+mj-ea"/>
                <a:ea typeface="+mj-ea"/>
              </a:rPr>
              <a:t>和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所提机制</a:t>
            </a:r>
            <a:r>
              <a:rPr lang="zh-CN" altLang="en-US" sz="2000" dirty="0">
                <a:latin typeface="+mj-ea"/>
                <a:ea typeface="+mj-ea"/>
              </a:rPr>
              <a:t>出清模型进行市场出清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  <a:r>
              <a:rPr lang="zh-CN" altLang="en-US" sz="2000" dirty="0">
                <a:latin typeface="+mj-ea"/>
                <a:ea typeface="+mj-ea"/>
              </a:rPr>
              <a:t>由于</a:t>
            </a:r>
            <a:r>
              <a:rPr lang="en-US" altLang="zh-CN" sz="2000" dirty="0">
                <a:latin typeface="+mj-ea"/>
                <a:ea typeface="+mj-ea"/>
              </a:rPr>
              <a:t>PJM</a:t>
            </a:r>
            <a:r>
              <a:rPr lang="zh-CN" altLang="en-US" sz="2000" dirty="0">
                <a:latin typeface="+mj-ea"/>
                <a:ea typeface="+mj-ea"/>
              </a:rPr>
              <a:t>不区分向上</a:t>
            </a:r>
            <a:r>
              <a:rPr lang="en-US" altLang="zh-CN" sz="2000" dirty="0">
                <a:latin typeface="+mj-ea"/>
                <a:ea typeface="+mj-ea"/>
              </a:rPr>
              <a:t>(</a:t>
            </a:r>
            <a:r>
              <a:rPr lang="zh-CN" altLang="en-US" sz="2000" dirty="0">
                <a:latin typeface="+mj-ea"/>
                <a:ea typeface="+mj-ea"/>
              </a:rPr>
              <a:t>向下</a:t>
            </a:r>
            <a:r>
              <a:rPr lang="en-US" altLang="zh-CN" sz="2000" dirty="0">
                <a:latin typeface="+mj-ea"/>
                <a:ea typeface="+mj-ea"/>
              </a:rPr>
              <a:t>)</a:t>
            </a:r>
            <a:r>
              <a:rPr lang="zh-CN" altLang="en-US" sz="2000" dirty="0">
                <a:latin typeface="+mj-ea"/>
                <a:ea typeface="+mj-ea"/>
              </a:rPr>
              <a:t>调频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 设置所提机制出清各资源的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向上和向下调频容量分别相等</a:t>
            </a:r>
            <a:r>
              <a:rPr lang="zh-CN" altLang="en-US" sz="2000" dirty="0">
                <a:latin typeface="+mj-ea"/>
                <a:ea typeface="+mj-ea"/>
              </a:rPr>
              <a:t>，以便比较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为了方便显示结果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本例假设</a:t>
            </a:r>
            <a:r>
              <a:rPr lang="en-US" altLang="zh-CN" sz="2000" dirty="0">
                <a:latin typeface="+mj-ea"/>
                <a:ea typeface="+mj-ea"/>
              </a:rPr>
              <a:t>4</a:t>
            </a:r>
            <a:r>
              <a:rPr lang="zh-CN" altLang="en-US" sz="2000" dirty="0">
                <a:latin typeface="+mj-ea"/>
                <a:ea typeface="+mj-ea"/>
              </a:rPr>
              <a:t>个市场主体分别控制风电</a:t>
            </a:r>
            <a:r>
              <a:rPr lang="en-US" altLang="zh-CN" sz="2000" dirty="0">
                <a:latin typeface="+mj-ea"/>
                <a:ea typeface="+mj-ea"/>
              </a:rPr>
              <a:t>､</a:t>
            </a:r>
            <a:r>
              <a:rPr lang="zh-CN" altLang="en-US" sz="2000" dirty="0">
                <a:latin typeface="+mj-ea"/>
                <a:ea typeface="+mj-ea"/>
              </a:rPr>
              <a:t>光伏</a:t>
            </a:r>
            <a:r>
              <a:rPr lang="en-US" altLang="zh-CN" sz="2000" dirty="0">
                <a:latin typeface="+mj-ea"/>
                <a:ea typeface="+mj-ea"/>
              </a:rPr>
              <a:t>､</a:t>
            </a:r>
            <a:r>
              <a:rPr lang="zh-CN" altLang="en-US" sz="2000" dirty="0">
                <a:latin typeface="+mj-ea"/>
                <a:ea typeface="+mj-ea"/>
              </a:rPr>
              <a:t>电动汽车</a:t>
            </a:r>
            <a:r>
              <a:rPr lang="en-US" altLang="zh-CN" sz="2000" dirty="0">
                <a:latin typeface="+mj-ea"/>
                <a:ea typeface="+mj-ea"/>
              </a:rPr>
              <a:t>(electric vehicle, EV)､</a:t>
            </a:r>
            <a:r>
              <a:rPr lang="zh-CN" altLang="en-US" sz="2000" dirty="0">
                <a:latin typeface="+mj-ea"/>
                <a:ea typeface="+mj-ea"/>
              </a:rPr>
              <a:t>储能</a:t>
            </a:r>
            <a:r>
              <a:rPr lang="en-US" altLang="zh-CN" sz="2000" dirty="0">
                <a:latin typeface="+mj-ea"/>
                <a:ea typeface="+mj-ea"/>
              </a:rPr>
              <a:t>(energy storage, ES)4</a:t>
            </a:r>
            <a:r>
              <a:rPr lang="zh-CN" altLang="en-US" sz="2000" dirty="0">
                <a:latin typeface="+mj-ea"/>
                <a:ea typeface="+mj-ea"/>
              </a:rPr>
              <a:t>类资源，用影子价格法测算调频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机会成本</a:t>
            </a:r>
            <a:r>
              <a:rPr lang="zh-CN" altLang="en-US" sz="2000" dirty="0">
                <a:latin typeface="+mj-ea"/>
                <a:ea typeface="+mj-ea"/>
              </a:rPr>
              <a:t>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采用</a:t>
            </a:r>
            <a:r>
              <a:rPr lang="en-US" altLang="zh-CN" sz="2000" dirty="0">
                <a:latin typeface="+mj-ea"/>
                <a:ea typeface="+mj-ea"/>
              </a:rPr>
              <a:t>PJM2021</a:t>
            </a:r>
            <a:r>
              <a:rPr lang="zh-CN" altLang="en-US" sz="2000" dirty="0">
                <a:latin typeface="+mj-ea"/>
                <a:ea typeface="+mj-ea"/>
              </a:rPr>
              <a:t>年</a:t>
            </a:r>
            <a:r>
              <a:rPr lang="en-US" altLang="zh-CN" sz="2000" dirty="0">
                <a:latin typeface="+mj-ea"/>
                <a:ea typeface="+mj-ea"/>
              </a:rPr>
              <a:t>5</a:t>
            </a:r>
            <a:r>
              <a:rPr lang="zh-CN" altLang="en-US" sz="2000" dirty="0">
                <a:latin typeface="+mj-ea"/>
                <a:ea typeface="+mj-ea"/>
              </a:rPr>
              <a:t>月</a:t>
            </a:r>
            <a:r>
              <a:rPr lang="en-US" altLang="zh-CN" sz="2000" dirty="0">
                <a:latin typeface="+mj-ea"/>
                <a:ea typeface="+mj-ea"/>
              </a:rPr>
              <a:t>20</a:t>
            </a:r>
            <a:r>
              <a:rPr lang="zh-CN" altLang="en-US" sz="2000" dirty="0">
                <a:latin typeface="+mj-ea"/>
                <a:ea typeface="+mj-ea"/>
              </a:rPr>
              <a:t>日</a:t>
            </a:r>
            <a:r>
              <a:rPr lang="en-US" altLang="zh-CN" sz="2000" dirty="0" err="1">
                <a:latin typeface="+mj-ea"/>
                <a:ea typeface="+mj-ea"/>
              </a:rPr>
              <a:t>RegD</a:t>
            </a:r>
            <a:r>
              <a:rPr lang="zh-CN" altLang="en-US" sz="2000" dirty="0">
                <a:latin typeface="+mj-ea"/>
                <a:ea typeface="+mj-ea"/>
              </a:rPr>
              <a:t>信号，用</a:t>
            </a:r>
            <a:r>
              <a:rPr lang="en-US" altLang="zh-CN" sz="2000" dirty="0">
                <a:latin typeface="+mj-ea"/>
                <a:ea typeface="+mj-ea"/>
              </a:rPr>
              <a:t>5.13-5.19</a:t>
            </a:r>
            <a:r>
              <a:rPr lang="zh-CN" altLang="en-US" sz="2000" dirty="0">
                <a:latin typeface="+mj-ea"/>
                <a:ea typeface="+mj-ea"/>
              </a:rPr>
              <a:t>信号分布作为对</a:t>
            </a:r>
            <a:r>
              <a:rPr lang="en-US" altLang="zh-CN" sz="2000" dirty="0">
                <a:latin typeface="+mj-ea"/>
                <a:ea typeface="+mj-ea"/>
              </a:rPr>
              <a:t>5.20</a:t>
            </a:r>
            <a:r>
              <a:rPr lang="zh-CN" altLang="en-US" sz="2000" dirty="0">
                <a:latin typeface="+mj-ea"/>
                <a:ea typeface="+mj-ea"/>
              </a:rPr>
              <a:t>日信号分布的预测。</a:t>
            </a:r>
            <a:endParaRPr lang="en-US" altLang="zh-CN" sz="2000" dirty="0">
              <a:latin typeface="+mj-ea"/>
              <a:ea typeface="+mj-ea"/>
            </a:endParaRPr>
          </a:p>
        </p:txBody>
      </p: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CABF3368-3586-407F-A169-A9CF11F85941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332" name="标题 1">
              <a:extLst>
                <a:ext uri="{FF2B5EF4-FFF2-40B4-BE49-F238E27FC236}">
                  <a16:creationId xmlns:a16="http://schemas.microsoft.com/office/drawing/2014/main" id="{5DDE7EDF-E4A9-4F97-821C-530F2D3E43E0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算例设置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334" name="直接连接符 33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D1737BC3-F004-4CC4-9FA4-7F038A3549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B3AC39D9-7BD9-4A19-A945-70B0EF0EA1CC}"/>
              </a:ext>
            </a:extLst>
          </p:cNvPr>
          <p:cNvCxnSpPr>
            <a:cxnSpLocks/>
          </p:cNvCxnSpPr>
          <p:nvPr/>
        </p:nvCxnSpPr>
        <p:spPr>
          <a:xfrm>
            <a:off x="468515" y="626458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5" name="图片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63" y="28986928"/>
            <a:ext cx="6311404" cy="6109976"/>
          </a:xfrm>
          <a:prstGeom prst="rect">
            <a:avLst/>
          </a:prstGeom>
        </p:spPr>
      </p:pic>
      <p:sp>
        <p:nvSpPr>
          <p:cNvPr id="340" name="文本占位符 27"/>
          <p:cNvSpPr txBox="1">
            <a:spLocks/>
          </p:cNvSpPr>
          <p:nvPr/>
        </p:nvSpPr>
        <p:spPr>
          <a:xfrm>
            <a:off x="105443" y="35097579"/>
            <a:ext cx="8481442" cy="6259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联络线交换功率、容量价格均收敛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59526" y="626458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能量市场中标情况</a:t>
            </a:r>
          </a:p>
        </p:txBody>
      </p:sp>
      <p:pic>
        <p:nvPicPr>
          <p:cNvPr id="16" name="图片 15" descr="C:\Users\Thinkpad\Documents\MATLAB\awesome-matlab\EV-Wind-Coordinatioin-master\psp_generate\能量市场出清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560" y="3541883"/>
            <a:ext cx="3477581" cy="264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 descr="C:\Users\Thinkpad\Documents\MATLAB\awesome-matlab\new_resource_RegD_market\出清价格-2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51" y="3546418"/>
            <a:ext cx="3637811" cy="263683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矩形 17"/>
          <p:cNvSpPr/>
          <p:nvPr/>
        </p:nvSpPr>
        <p:spPr>
          <a:xfrm>
            <a:off x="1544221" y="626458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能量现货市场电价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9206" y="3962423"/>
            <a:ext cx="1354594" cy="2428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612" y="5262563"/>
            <a:ext cx="2799676" cy="39528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3533" y="5029200"/>
            <a:ext cx="1728830" cy="289341"/>
          </a:xfrm>
          <a:prstGeom prst="rect">
            <a:avLst/>
          </a:prstGeom>
        </p:spPr>
      </p:pic>
      <p:pic>
        <p:nvPicPr>
          <p:cNvPr id="22" name="图片 21" descr="C:\Users\Thinkpad\Documents\MATLAB\awesome-matlab\new_resource_RegD_market\AGC分布.jpg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42" y="3560943"/>
            <a:ext cx="3467907" cy="262231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矩形 22"/>
          <p:cNvSpPr/>
          <p:nvPr/>
        </p:nvSpPr>
        <p:spPr>
          <a:xfrm>
            <a:off x="8126354" y="6264585"/>
            <a:ext cx="3016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PJM2021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 err="1"/>
              <a:t>RegD</a:t>
            </a:r>
            <a:r>
              <a:rPr lang="zh-CN" altLang="en-US" dirty="0"/>
              <a:t>信号分布</a:t>
            </a:r>
          </a:p>
        </p:txBody>
      </p:sp>
    </p:spTree>
    <p:extLst>
      <p:ext uri="{BB962C8B-B14F-4D97-AF65-F5344CB8AC3E}">
        <p14:creationId xmlns:p14="http://schemas.microsoft.com/office/powerpoint/2010/main" val="214319120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702712" y="6441948"/>
            <a:ext cx="376586" cy="343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4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8515" y="1177727"/>
            <a:ext cx="11342061" cy="2092881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系统调频容量需求设为</a:t>
            </a:r>
            <a:r>
              <a:rPr lang="en-US" altLang="zh-CN" sz="2000" dirty="0">
                <a:latin typeface="+mj-ea"/>
                <a:ea typeface="+mj-ea"/>
              </a:rPr>
              <a:t>100MW</a:t>
            </a:r>
            <a:r>
              <a:rPr lang="zh-CN" altLang="en-US" sz="2000" dirty="0">
                <a:latin typeface="+mj-ea"/>
                <a:ea typeface="+mj-ea"/>
              </a:rPr>
              <a:t>，储能容量为</a:t>
            </a:r>
            <a:r>
              <a:rPr lang="en-US" altLang="zh-CN" sz="2000" dirty="0">
                <a:latin typeface="+mj-ea"/>
                <a:ea typeface="+mj-ea"/>
              </a:rPr>
              <a:t>40MW, 160MWh</a:t>
            </a:r>
            <a:r>
              <a:rPr lang="zh-CN" altLang="en-US" sz="2000" dirty="0">
                <a:latin typeface="+mj-ea"/>
                <a:ea typeface="+mj-ea"/>
              </a:rPr>
              <a:t>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各资源按真实成本在调频市场投标</a:t>
            </a:r>
            <a:r>
              <a:rPr lang="en-US" altLang="zh-CN" sz="2000" dirty="0">
                <a:latin typeface="+mj-ea"/>
                <a:ea typeface="+mj-ea"/>
              </a:rPr>
              <a:t>,VRE､EV､ES</a:t>
            </a:r>
            <a:r>
              <a:rPr lang="zh-CN" altLang="en-US" sz="2000" dirty="0">
                <a:latin typeface="+mj-ea"/>
                <a:ea typeface="+mj-ea"/>
              </a:rPr>
              <a:t>容量成本分别为</a:t>
            </a:r>
            <a:r>
              <a:rPr lang="en-US" altLang="zh-CN" sz="2000" dirty="0">
                <a:latin typeface="+mj-ea"/>
                <a:ea typeface="+mj-ea"/>
              </a:rPr>
              <a:t>$0/MWh､$23/MWh､$20/MWh;</a:t>
            </a:r>
            <a:r>
              <a:rPr lang="zh-CN" altLang="en-US" sz="2000" dirty="0">
                <a:latin typeface="+mj-ea"/>
                <a:ea typeface="+mj-ea"/>
              </a:rPr>
              <a:t>各资源里程成本为</a:t>
            </a:r>
            <a:r>
              <a:rPr lang="en-US" altLang="zh-CN" sz="2000" dirty="0">
                <a:latin typeface="+mj-ea"/>
                <a:ea typeface="+mj-ea"/>
              </a:rPr>
              <a:t>0,</a:t>
            </a:r>
            <a:r>
              <a:rPr lang="zh-CN" altLang="en-US" sz="2000" dirty="0">
                <a:latin typeface="+mj-ea"/>
                <a:ea typeface="+mj-ea"/>
              </a:rPr>
              <a:t>里程报价为下价格帽</a:t>
            </a:r>
            <a:r>
              <a:rPr lang="en-US" altLang="zh-CN" sz="2000" dirty="0">
                <a:latin typeface="+mj-ea"/>
                <a:ea typeface="+mj-ea"/>
              </a:rPr>
              <a:t>1$/MW</a:t>
            </a:r>
            <a:r>
              <a:rPr lang="zh-CN" altLang="en-US" sz="2000" dirty="0">
                <a:latin typeface="+mj-ea"/>
                <a:ea typeface="+mj-ea"/>
              </a:rPr>
              <a:t>。</a:t>
            </a:r>
            <a:endParaRPr lang="en-US" altLang="zh-CN" sz="2000" dirty="0">
              <a:latin typeface="+mj-ea"/>
              <a:ea typeface="+mj-ea"/>
            </a:endParaRP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+mj-ea"/>
                <a:ea typeface="+mj-ea"/>
              </a:rPr>
              <a:t>VRE</a:t>
            </a:r>
            <a:r>
              <a:rPr lang="zh-CN" altLang="en-US" sz="2000" dirty="0">
                <a:latin typeface="+mj-ea"/>
                <a:ea typeface="+mj-ea"/>
              </a:rPr>
              <a:t>资源最大容量为</a:t>
            </a:r>
            <a:r>
              <a:rPr lang="en-US" altLang="zh-CN" sz="2000" dirty="0">
                <a:latin typeface="+mj-ea"/>
                <a:ea typeface="+mj-ea"/>
              </a:rPr>
              <a:t>30%</a:t>
            </a:r>
            <a:r>
              <a:rPr lang="zh-CN" altLang="en-US" sz="2000" dirty="0">
                <a:latin typeface="+mj-ea"/>
                <a:ea typeface="+mj-ea"/>
              </a:rPr>
              <a:t>额定功率的与最大出力的中较小者</a:t>
            </a:r>
            <a:r>
              <a:rPr lang="en-US" altLang="zh-CN" sz="2000" dirty="0">
                <a:latin typeface="+mj-ea"/>
                <a:ea typeface="+mj-ea"/>
              </a:rPr>
              <a:t>,EV</a:t>
            </a:r>
            <a:r>
              <a:rPr lang="zh-CN" altLang="en-US" sz="2000" dirty="0">
                <a:latin typeface="+mj-ea"/>
                <a:ea typeface="+mj-ea"/>
              </a:rPr>
              <a:t>和</a:t>
            </a:r>
            <a:r>
              <a:rPr lang="en-US" altLang="zh-CN" sz="2000" dirty="0">
                <a:latin typeface="+mj-ea"/>
                <a:ea typeface="+mj-ea"/>
              </a:rPr>
              <a:t>ES</a:t>
            </a:r>
            <a:r>
              <a:rPr lang="zh-CN" altLang="en-US" sz="2000" dirty="0">
                <a:latin typeface="+mj-ea"/>
                <a:ea typeface="+mj-ea"/>
              </a:rPr>
              <a:t>最大容量由当前时段基准功率</a:t>
            </a:r>
            <a:r>
              <a:rPr lang="en-US" altLang="zh-CN" sz="2000" dirty="0">
                <a:latin typeface="+mj-ea"/>
                <a:ea typeface="+mj-ea"/>
              </a:rPr>
              <a:t>(</a:t>
            </a:r>
            <a:r>
              <a:rPr lang="zh-CN" altLang="en-US" sz="2000" dirty="0">
                <a:latin typeface="+mj-ea"/>
                <a:ea typeface="+mj-ea"/>
              </a:rPr>
              <a:t>能量市场中标量</a:t>
            </a:r>
            <a:r>
              <a:rPr lang="en-US" altLang="zh-CN" sz="2000" dirty="0">
                <a:latin typeface="+mj-ea"/>
                <a:ea typeface="+mj-ea"/>
              </a:rPr>
              <a:t>)</a:t>
            </a:r>
            <a:r>
              <a:rPr lang="zh-CN" altLang="en-US" sz="2000" dirty="0">
                <a:latin typeface="+mj-ea"/>
                <a:ea typeface="+mj-ea"/>
              </a:rPr>
              <a:t>和出力上下限共同决定。</a:t>
            </a:r>
            <a:endParaRPr lang="en-US" altLang="zh-CN" sz="2000" dirty="0">
              <a:latin typeface="+mj-ea"/>
              <a:ea typeface="+mj-ea"/>
            </a:endParaRPr>
          </a:p>
        </p:txBody>
      </p: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CABF3368-3586-407F-A169-A9CF11F85941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332" name="标题 1">
              <a:extLst>
                <a:ext uri="{FF2B5EF4-FFF2-40B4-BE49-F238E27FC236}">
                  <a16:creationId xmlns:a16="http://schemas.microsoft.com/office/drawing/2014/main" id="{5DDE7EDF-E4A9-4F97-821C-530F2D3E43E0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出清结果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334" name="直接连接符 33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D1737BC3-F004-4CC4-9FA4-7F038A3549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B3AC39D9-7BD9-4A19-A945-70B0EF0EA1CC}"/>
              </a:ext>
            </a:extLst>
          </p:cNvPr>
          <p:cNvCxnSpPr>
            <a:cxnSpLocks/>
          </p:cNvCxnSpPr>
          <p:nvPr/>
        </p:nvCxnSpPr>
        <p:spPr>
          <a:xfrm>
            <a:off x="468515" y="6264585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5" name="图片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63" y="28986928"/>
            <a:ext cx="6311404" cy="6109976"/>
          </a:xfrm>
          <a:prstGeom prst="rect">
            <a:avLst/>
          </a:prstGeom>
        </p:spPr>
      </p:pic>
      <p:sp>
        <p:nvSpPr>
          <p:cNvPr id="340" name="文本占位符 27"/>
          <p:cNvSpPr txBox="1">
            <a:spLocks/>
          </p:cNvSpPr>
          <p:nvPr/>
        </p:nvSpPr>
        <p:spPr>
          <a:xfrm>
            <a:off x="105443" y="35097579"/>
            <a:ext cx="8481442" cy="6259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联络线交换功率、容量价格均收敛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89240" y="6264585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调频容量中标情况（现有机制）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50" y="3433034"/>
            <a:ext cx="3260403" cy="2631937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4520569" y="6264585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调频容量中标情况（所提机制）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3931" y="3433034"/>
            <a:ext cx="3271829" cy="2631937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8171383" y="6264145"/>
            <a:ext cx="25261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各时段边际容量价格</a:t>
            </a:r>
          </a:p>
        </p:txBody>
      </p:sp>
      <p:pic>
        <p:nvPicPr>
          <p:cNvPr id="19" name="图片 18" descr="C:\Users\Thinkpad\Documents\MATLAB\awesome-matlab\new_resource_RegD_market\出清价格-2.jp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852" y="3271283"/>
            <a:ext cx="3547783" cy="2793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782060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702712" y="6441948"/>
            <a:ext cx="376586" cy="343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4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7234" y="1288452"/>
            <a:ext cx="11342061" cy="2092881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现有机制按照各调频资源中标容量的比例分配功率调整量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本例不再展示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+mj-ea"/>
                <a:ea typeface="+mj-ea"/>
              </a:rPr>
              <a:t>2-3</a:t>
            </a:r>
            <a:r>
              <a:rPr lang="zh-CN" altLang="en-US" sz="2000" dirty="0">
                <a:latin typeface="+mj-ea"/>
                <a:ea typeface="+mj-ea"/>
              </a:rPr>
              <a:t>点</a:t>
            </a:r>
            <a:r>
              <a:rPr lang="en-US" altLang="zh-CN" sz="2000" dirty="0">
                <a:latin typeface="+mj-ea"/>
                <a:ea typeface="+mj-ea"/>
              </a:rPr>
              <a:t>(</a:t>
            </a:r>
            <a:r>
              <a:rPr lang="zh-CN" altLang="en-US" sz="2000" dirty="0">
                <a:latin typeface="+mj-ea"/>
                <a:ea typeface="+mj-ea"/>
              </a:rPr>
              <a:t>图</a:t>
            </a:r>
            <a:r>
              <a:rPr lang="en-US" altLang="zh-CN" sz="2000" dirty="0">
                <a:latin typeface="+mj-ea"/>
                <a:ea typeface="+mj-ea"/>
              </a:rPr>
              <a:t>a),EV､ES</a:t>
            </a:r>
            <a:r>
              <a:rPr lang="zh-CN" altLang="en-US" sz="2000" dirty="0">
                <a:latin typeface="+mj-ea"/>
                <a:ea typeface="+mj-ea"/>
              </a:rPr>
              <a:t>在低电价时段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充电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  <a:r>
              <a:rPr lang="zh-CN" altLang="en-US" sz="2000" dirty="0">
                <a:latin typeface="+mj-ea"/>
                <a:ea typeface="+mj-ea"/>
              </a:rPr>
              <a:t>提供调频时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VRE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机组优先发电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上调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),</a:t>
            </a:r>
            <a:r>
              <a:rPr lang="zh-CN" altLang="en-US" sz="2000" dirty="0">
                <a:latin typeface="+mj-ea"/>
                <a:ea typeface="+mj-ea"/>
              </a:rPr>
              <a:t>而让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EV､ES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优先充电</a:t>
            </a:r>
            <a:r>
              <a:rPr lang="en-US" altLang="zh-CN" sz="2000" dirty="0">
                <a:latin typeface="+mj-ea"/>
                <a:ea typeface="+mj-ea"/>
              </a:rPr>
              <a:t>(</a:t>
            </a:r>
            <a:r>
              <a:rPr lang="zh-CN" altLang="en-US" sz="2000" dirty="0">
                <a:latin typeface="+mj-ea"/>
                <a:ea typeface="+mj-ea"/>
              </a:rPr>
              <a:t>下调</a:t>
            </a:r>
            <a:r>
              <a:rPr lang="en-US" altLang="zh-CN" sz="2000" dirty="0">
                <a:latin typeface="+mj-ea"/>
                <a:ea typeface="+mj-ea"/>
              </a:rPr>
              <a:t>),</a:t>
            </a:r>
            <a:r>
              <a:rPr lang="zh-CN" altLang="en-US" sz="2000" dirty="0">
                <a:latin typeface="+mj-ea"/>
                <a:ea typeface="+mj-ea"/>
              </a:rPr>
              <a:t>这样可以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减少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VRE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的弃电量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同时满足</a:t>
            </a:r>
            <a:r>
              <a:rPr lang="en-US" altLang="zh-CN" sz="2000" dirty="0">
                <a:latin typeface="+mj-ea"/>
                <a:ea typeface="+mj-ea"/>
              </a:rPr>
              <a:t>EV</a:t>
            </a:r>
            <a:r>
              <a:rPr lang="zh-CN" altLang="en-US" sz="2000" dirty="0">
                <a:latin typeface="+mj-ea"/>
                <a:ea typeface="+mj-ea"/>
              </a:rPr>
              <a:t>和</a:t>
            </a:r>
            <a:r>
              <a:rPr lang="en-US" altLang="zh-CN" sz="2000" dirty="0">
                <a:latin typeface="+mj-ea"/>
                <a:ea typeface="+mj-ea"/>
              </a:rPr>
              <a:t>ES</a:t>
            </a:r>
            <a:r>
              <a:rPr lang="zh-CN" altLang="en-US" sz="2000" dirty="0">
                <a:latin typeface="+mj-ea"/>
                <a:ea typeface="+mj-ea"/>
              </a:rPr>
              <a:t>的充电需求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+mj-ea"/>
                <a:ea typeface="+mj-ea"/>
              </a:rPr>
              <a:t>20-21</a:t>
            </a:r>
            <a:r>
              <a:rPr lang="zh-CN" altLang="en-US" sz="2000" dirty="0">
                <a:latin typeface="+mj-ea"/>
                <a:ea typeface="+mj-ea"/>
              </a:rPr>
              <a:t>点</a:t>
            </a:r>
            <a:r>
              <a:rPr lang="en-US" altLang="zh-CN" sz="2000" dirty="0">
                <a:latin typeface="+mj-ea"/>
                <a:ea typeface="+mj-ea"/>
              </a:rPr>
              <a:t>(</a:t>
            </a:r>
            <a:r>
              <a:rPr lang="zh-CN" altLang="en-US" sz="2000" dirty="0">
                <a:latin typeface="+mj-ea"/>
                <a:ea typeface="+mj-ea"/>
              </a:rPr>
              <a:t>图</a:t>
            </a:r>
            <a:r>
              <a:rPr lang="en-US" altLang="zh-CN" sz="2000" dirty="0">
                <a:latin typeface="+mj-ea"/>
                <a:ea typeface="+mj-ea"/>
              </a:rPr>
              <a:t>c):ES</a:t>
            </a:r>
            <a:r>
              <a:rPr lang="zh-CN" altLang="en-US" sz="2000" dirty="0">
                <a:latin typeface="+mj-ea"/>
                <a:ea typeface="+mj-ea"/>
              </a:rPr>
              <a:t>在高电价时段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放电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  <a:r>
              <a:rPr lang="zh-CN" altLang="en-US" sz="2000" dirty="0">
                <a:latin typeface="+mj-ea"/>
                <a:ea typeface="+mj-ea"/>
              </a:rPr>
              <a:t>提供调频时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优先让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VRE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发电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并减少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ES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的放电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从而减少</a:t>
            </a:r>
            <a:r>
              <a:rPr lang="en-US" altLang="zh-CN" sz="2000" dirty="0">
                <a:latin typeface="+mj-ea"/>
                <a:ea typeface="+mj-ea"/>
              </a:rPr>
              <a:t>ES</a:t>
            </a:r>
            <a:r>
              <a:rPr lang="zh-CN" altLang="en-US" sz="2000" dirty="0">
                <a:latin typeface="+mj-ea"/>
                <a:ea typeface="+mj-ea"/>
              </a:rPr>
              <a:t>的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运行成本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</p:txBody>
      </p: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CABF3368-3586-407F-A169-A9CF11F85941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332" name="标题 1">
              <a:extLst>
                <a:ext uri="{FF2B5EF4-FFF2-40B4-BE49-F238E27FC236}">
                  <a16:creationId xmlns:a16="http://schemas.microsoft.com/office/drawing/2014/main" id="{5DDE7EDF-E4A9-4F97-821C-530F2D3E43E0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调频功率分配情况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334" name="直接连接符 33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D1737BC3-F004-4CC4-9FA4-7F038A3549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B3AC39D9-7BD9-4A19-A945-70B0EF0EA1CC}"/>
              </a:ext>
            </a:extLst>
          </p:cNvPr>
          <p:cNvCxnSpPr>
            <a:cxnSpLocks/>
          </p:cNvCxnSpPr>
          <p:nvPr/>
        </p:nvCxnSpPr>
        <p:spPr>
          <a:xfrm>
            <a:off x="468516" y="6345238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5" name="图片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63" y="28986928"/>
            <a:ext cx="6311404" cy="6109976"/>
          </a:xfrm>
          <a:prstGeom prst="rect">
            <a:avLst/>
          </a:prstGeom>
        </p:spPr>
      </p:pic>
      <p:sp>
        <p:nvSpPr>
          <p:cNvPr id="340" name="文本占位符 27"/>
          <p:cNvSpPr txBox="1">
            <a:spLocks/>
          </p:cNvSpPr>
          <p:nvPr/>
        </p:nvSpPr>
        <p:spPr>
          <a:xfrm>
            <a:off x="105443" y="35097579"/>
            <a:ext cx="8481442" cy="6259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联络线交换功率、容量价格均收敛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79" y="3381333"/>
            <a:ext cx="4078668" cy="29632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667" y="3381333"/>
            <a:ext cx="3976669" cy="296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7843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702712" y="6441948"/>
            <a:ext cx="376586" cy="343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4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7234" y="1288452"/>
            <a:ext cx="11342061" cy="2092881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所提机制相对于现有机制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系统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调频总成本下降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28%,</a:t>
            </a:r>
            <a:r>
              <a:rPr lang="zh-CN" altLang="en-US" sz="2000" dirty="0">
                <a:latin typeface="+mj-ea"/>
                <a:ea typeface="+mj-ea"/>
              </a:rPr>
              <a:t>调频资源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总利润增加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32%｡</a:t>
            </a:r>
            <a:r>
              <a:rPr lang="zh-CN" altLang="en-US" sz="2000" dirty="0">
                <a:latin typeface="+mj-ea"/>
                <a:ea typeface="+mj-ea"/>
              </a:rPr>
              <a:t>在所提机制下</a:t>
            </a:r>
            <a:r>
              <a:rPr lang="en-US" altLang="zh-CN" sz="2000" dirty="0">
                <a:latin typeface="+mj-ea"/>
                <a:ea typeface="+mj-ea"/>
              </a:rPr>
              <a:t>,VRE</a:t>
            </a:r>
            <a:r>
              <a:rPr lang="zh-CN" altLang="en-US" sz="2000" dirty="0">
                <a:latin typeface="+mj-ea"/>
                <a:ea typeface="+mj-ea"/>
              </a:rPr>
              <a:t>资源调频利润大幅增加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主要是因为</a:t>
            </a:r>
            <a:r>
              <a:rPr lang="en-US" altLang="zh-CN" sz="2000" dirty="0">
                <a:latin typeface="+mj-ea"/>
                <a:ea typeface="+mj-ea"/>
              </a:rPr>
              <a:t>VRE</a:t>
            </a:r>
            <a:r>
              <a:rPr lang="zh-CN" altLang="en-US" sz="2000" dirty="0">
                <a:latin typeface="+mj-ea"/>
                <a:ea typeface="+mj-ea"/>
              </a:rPr>
              <a:t>机组中标量增加</a:t>
            </a:r>
            <a:r>
              <a:rPr lang="en-US" altLang="zh-CN" sz="2000" dirty="0">
                <a:latin typeface="+mj-ea"/>
                <a:ea typeface="+mj-ea"/>
              </a:rPr>
              <a:t>､</a:t>
            </a:r>
            <a:r>
              <a:rPr lang="zh-CN" altLang="en-US" sz="2000" dirty="0">
                <a:latin typeface="+mj-ea"/>
                <a:ea typeface="+mj-ea"/>
              </a:rPr>
              <a:t>单位容量的弃电量下降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在现有机制下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由于设置了</a:t>
            </a:r>
            <a:r>
              <a:rPr lang="en-US" altLang="zh-CN" sz="2000" dirty="0">
                <a:latin typeface="+mj-ea"/>
                <a:ea typeface="+mj-ea"/>
              </a:rPr>
              <a:t>1$/MW</a:t>
            </a:r>
            <a:r>
              <a:rPr lang="zh-CN" altLang="en-US" sz="2000" dirty="0">
                <a:latin typeface="+mj-ea"/>
                <a:ea typeface="+mj-ea"/>
              </a:rPr>
              <a:t>的里程价格帽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里程收入占各资源调频总收入的</a:t>
            </a:r>
            <a:r>
              <a:rPr lang="en-US" altLang="zh-CN" sz="2000" dirty="0">
                <a:latin typeface="+mj-ea"/>
                <a:ea typeface="+mj-ea"/>
              </a:rPr>
              <a:t>26%,</a:t>
            </a:r>
            <a:r>
              <a:rPr lang="zh-CN" altLang="en-US" sz="2000" dirty="0">
                <a:latin typeface="+mj-ea"/>
                <a:ea typeface="+mj-ea"/>
              </a:rPr>
              <a:t>但各资源没有相应的里程成本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  <a:r>
              <a:rPr lang="zh-CN" altLang="en-US" sz="2000" dirty="0">
                <a:latin typeface="+mj-ea"/>
                <a:ea typeface="+mj-ea"/>
              </a:rPr>
              <a:t>在现有机制下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出力调整收入取代了里程收入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虽然</a:t>
            </a:r>
            <a:r>
              <a:rPr lang="en-US" altLang="zh-CN" sz="2000" dirty="0">
                <a:latin typeface="+mj-ea"/>
                <a:ea typeface="+mj-ea"/>
              </a:rPr>
              <a:t>EV､ES</a:t>
            </a:r>
            <a:r>
              <a:rPr lang="zh-CN" altLang="en-US" sz="2000" dirty="0">
                <a:latin typeface="+mj-ea"/>
                <a:ea typeface="+mj-ea"/>
              </a:rPr>
              <a:t>资源利润下降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但调频市场的收入分配更符合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“基于成本补偿”</a:t>
            </a:r>
            <a:r>
              <a:rPr lang="zh-CN" altLang="en-US" sz="2000" dirty="0">
                <a:latin typeface="+mj-ea"/>
                <a:ea typeface="+mj-ea"/>
              </a:rPr>
              <a:t>的原则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</p:txBody>
      </p: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CABF3368-3586-407F-A169-A9CF11F85941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332" name="标题 1">
              <a:extLst>
                <a:ext uri="{FF2B5EF4-FFF2-40B4-BE49-F238E27FC236}">
                  <a16:creationId xmlns:a16="http://schemas.microsoft.com/office/drawing/2014/main" id="{5DDE7EDF-E4A9-4F97-821C-530F2D3E43E0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各资源调频收入和成本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334" name="直接连接符 33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D1737BC3-F004-4CC4-9FA4-7F038A3549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B3AC39D9-7BD9-4A19-A945-70B0EF0EA1CC}"/>
              </a:ext>
            </a:extLst>
          </p:cNvPr>
          <p:cNvCxnSpPr>
            <a:cxnSpLocks/>
          </p:cNvCxnSpPr>
          <p:nvPr/>
        </p:nvCxnSpPr>
        <p:spPr>
          <a:xfrm>
            <a:off x="468516" y="6345238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5" name="图片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63" y="28986928"/>
            <a:ext cx="6311404" cy="6109976"/>
          </a:xfrm>
          <a:prstGeom prst="rect">
            <a:avLst/>
          </a:prstGeom>
        </p:spPr>
      </p:pic>
      <p:sp>
        <p:nvSpPr>
          <p:cNvPr id="340" name="文本占位符 27"/>
          <p:cNvSpPr txBox="1">
            <a:spLocks/>
          </p:cNvSpPr>
          <p:nvPr/>
        </p:nvSpPr>
        <p:spPr>
          <a:xfrm>
            <a:off x="105443" y="35097579"/>
            <a:ext cx="8481442" cy="6259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联络线交换功率、容量价格均收敛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4" y="3614678"/>
            <a:ext cx="5362789" cy="2730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068" y="3614678"/>
            <a:ext cx="5438238" cy="27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5194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2">
            <a:extLst>
              <a:ext uri="{FF2B5EF4-FFF2-40B4-BE49-F238E27FC236}">
                <a16:creationId xmlns:a16="http://schemas.microsoft.com/office/drawing/2014/main" id="{4E673006-0FBC-4846-BFF0-A9F3D5FA568A}"/>
              </a:ext>
            </a:extLst>
          </p:cNvPr>
          <p:cNvSpPr txBox="1">
            <a:spLocks/>
          </p:cNvSpPr>
          <p:nvPr/>
        </p:nvSpPr>
        <p:spPr bwMode="auto">
          <a:xfrm>
            <a:off x="11430000" y="6441948"/>
            <a:ext cx="649298" cy="343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75A1D34D-0602-40AF-B13E-48588BC84BD3}" type="slidenum">
              <a:rPr lang="zh-CN" altLang="en-US" sz="1400">
                <a:latin typeface="+mj-ea"/>
                <a:ea typeface="+mj-ea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69106" y="1520765"/>
            <a:ext cx="5012852" cy="4493538"/>
          </a:xfrm>
          <a:prstGeom prst="rect">
            <a:avLst/>
          </a:prstGeom>
          <a:solidFill>
            <a:srgbClr val="EAF6FC"/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假设在上述资源中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有</a:t>
            </a:r>
            <a:r>
              <a:rPr lang="en-US" altLang="zh-CN" sz="2000" dirty="0">
                <a:latin typeface="+mj-ea"/>
                <a:ea typeface="+mj-ea"/>
              </a:rPr>
              <a:t>8MW, 32MWh</a:t>
            </a:r>
            <a:r>
              <a:rPr lang="zh-CN" altLang="en-US" sz="2000" dirty="0">
                <a:latin typeface="+mj-ea"/>
                <a:ea typeface="+mj-ea"/>
              </a:rPr>
              <a:t>的</a:t>
            </a:r>
            <a:r>
              <a:rPr lang="en-US" altLang="zh-CN" sz="2000" dirty="0">
                <a:latin typeface="+mj-ea"/>
                <a:ea typeface="+mj-ea"/>
              </a:rPr>
              <a:t>ES</a:t>
            </a:r>
            <a:r>
              <a:rPr lang="zh-CN" altLang="en-US" sz="2000" dirty="0">
                <a:latin typeface="+mj-ea"/>
                <a:ea typeface="+mj-ea"/>
              </a:rPr>
              <a:t>资源</a:t>
            </a:r>
            <a:r>
              <a:rPr lang="en-US" altLang="zh-CN" sz="2000" dirty="0">
                <a:latin typeface="+mj-ea"/>
                <a:ea typeface="+mj-ea"/>
              </a:rPr>
              <a:t>(</a:t>
            </a:r>
            <a:r>
              <a:rPr lang="zh-CN" altLang="en-US" sz="2000" dirty="0">
                <a:latin typeface="+mj-ea"/>
                <a:ea typeface="+mj-ea"/>
              </a:rPr>
              <a:t>称为</a:t>
            </a:r>
            <a:r>
              <a:rPr lang="en-US" altLang="zh-CN" sz="2000" dirty="0">
                <a:latin typeface="+mj-ea"/>
                <a:ea typeface="+mj-ea"/>
              </a:rPr>
              <a:t>ES*)</a:t>
            </a:r>
            <a:r>
              <a:rPr lang="zh-CN" altLang="en-US" sz="2000" dirty="0">
                <a:latin typeface="+mj-ea"/>
                <a:ea typeface="+mj-ea"/>
              </a:rPr>
              <a:t>从原有</a:t>
            </a:r>
            <a:r>
              <a:rPr lang="en-US" altLang="zh-CN" sz="2000" dirty="0">
                <a:latin typeface="+mj-ea"/>
                <a:ea typeface="+mj-ea"/>
              </a:rPr>
              <a:t>ES</a:t>
            </a:r>
            <a:r>
              <a:rPr lang="zh-CN" altLang="en-US" sz="2000" dirty="0">
                <a:latin typeface="+mj-ea"/>
                <a:ea typeface="+mj-ea"/>
              </a:rPr>
              <a:t>资源中独立出来，且</a:t>
            </a:r>
            <a:r>
              <a:rPr lang="en-US" altLang="zh-CN" sz="2000" dirty="0">
                <a:latin typeface="+mj-ea"/>
                <a:ea typeface="+mj-ea"/>
              </a:rPr>
              <a:t>ES*</a:t>
            </a:r>
            <a:r>
              <a:rPr lang="zh-CN" altLang="en-US" sz="2000" dirty="0">
                <a:latin typeface="+mj-ea"/>
                <a:ea typeface="+mj-ea"/>
              </a:rPr>
              <a:t>的运行成本为</a:t>
            </a:r>
            <a:r>
              <a:rPr lang="en-US" altLang="zh-CN" sz="2000" dirty="0">
                <a:latin typeface="+mj-ea"/>
                <a:ea typeface="+mj-ea"/>
              </a:rPr>
              <a:t>4.5$/MWh,</a:t>
            </a:r>
            <a:r>
              <a:rPr lang="zh-CN" altLang="en-US" sz="2000" dirty="0">
                <a:latin typeface="+mj-ea"/>
                <a:ea typeface="+mj-ea"/>
              </a:rPr>
              <a:t>其他参数不变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+mj-ea"/>
                <a:ea typeface="+mj-ea"/>
              </a:rPr>
              <a:t>ES*</a:t>
            </a:r>
            <a:r>
              <a:rPr lang="zh-CN" altLang="en-US" sz="2000" dirty="0">
                <a:latin typeface="+mj-ea"/>
                <a:ea typeface="+mj-ea"/>
              </a:rPr>
              <a:t>分别按照实际成本的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r1､r2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倍申报容量成本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､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出力调整成本</a:t>
            </a:r>
            <a:endParaRPr lang="en-US" altLang="zh-CN" sz="2000" b="1" kern="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在</a:t>
            </a:r>
            <a:r>
              <a:rPr lang="en-US" altLang="zh-CN" sz="2000" dirty="0">
                <a:latin typeface="+mj-ea"/>
                <a:ea typeface="+mj-ea"/>
              </a:rPr>
              <a:t>r1=r2=1,</a:t>
            </a:r>
            <a:r>
              <a:rPr lang="zh-CN" altLang="en-US" sz="2000" dirty="0">
                <a:latin typeface="+mj-ea"/>
                <a:ea typeface="+mj-ea"/>
              </a:rPr>
              <a:t>即</a:t>
            </a:r>
            <a:r>
              <a:rPr lang="en-US" altLang="zh-CN" sz="2000" dirty="0">
                <a:latin typeface="+mj-ea"/>
                <a:ea typeface="+mj-ea"/>
              </a:rPr>
              <a:t>ES*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按照真实成本报价时</a:t>
            </a:r>
            <a:r>
              <a:rPr lang="en-US" altLang="zh-CN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其利润最大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  <a:r>
              <a:rPr lang="zh-CN" altLang="en-US" sz="2000" dirty="0">
                <a:latin typeface="+mj-ea"/>
                <a:ea typeface="+mj-ea"/>
              </a:rPr>
              <a:t>因此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所提机制对</a:t>
            </a:r>
            <a:r>
              <a:rPr lang="en-US" altLang="zh-CN" sz="2000" dirty="0">
                <a:latin typeface="+mj-ea"/>
                <a:ea typeface="+mj-ea"/>
              </a:rPr>
              <a:t>ES*</a:t>
            </a:r>
            <a:r>
              <a:rPr lang="zh-CN" altLang="en-US" sz="2000" dirty="0">
                <a:latin typeface="+mj-ea"/>
                <a:ea typeface="+mj-ea"/>
              </a:rPr>
              <a:t>实现了激励相容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  <a:p>
            <a:pPr marL="342900" indent="-3429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latin typeface="+mj-ea"/>
                <a:ea typeface="+mj-ea"/>
              </a:rPr>
              <a:t>通常而言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完全竞争</a:t>
            </a:r>
            <a:r>
              <a:rPr lang="zh-CN" altLang="en-US" sz="2000" dirty="0">
                <a:latin typeface="+mj-ea"/>
                <a:ea typeface="+mj-ea"/>
              </a:rPr>
              <a:t>的条件并不满足</a:t>
            </a:r>
            <a:r>
              <a:rPr lang="en-US" altLang="zh-CN" sz="2000" dirty="0">
                <a:latin typeface="+mj-ea"/>
                <a:ea typeface="+mj-ea"/>
              </a:rPr>
              <a:t>,</a:t>
            </a:r>
            <a:r>
              <a:rPr lang="zh-CN" altLang="en-US" sz="2000" dirty="0">
                <a:latin typeface="+mj-ea"/>
                <a:ea typeface="+mj-ea"/>
              </a:rPr>
              <a:t>因此所提机制一般不能保证激励相容</a:t>
            </a:r>
            <a:r>
              <a:rPr lang="en-US" altLang="zh-CN" sz="2000" dirty="0">
                <a:latin typeface="+mj-ea"/>
                <a:ea typeface="+mj-ea"/>
              </a:rPr>
              <a:t>｡</a:t>
            </a:r>
          </a:p>
        </p:txBody>
      </p: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CABF3368-3586-407F-A169-A9CF11F85941}"/>
              </a:ext>
            </a:extLst>
          </p:cNvPr>
          <p:cNvGrpSpPr/>
          <p:nvPr/>
        </p:nvGrpSpPr>
        <p:grpSpPr>
          <a:xfrm>
            <a:off x="1131469" y="470953"/>
            <a:ext cx="9950488" cy="752836"/>
            <a:chOff x="1131469" y="470953"/>
            <a:chExt cx="9950488" cy="752836"/>
          </a:xfrm>
        </p:grpSpPr>
        <p:sp>
          <p:nvSpPr>
            <p:cNvPr id="332" name="标题 1">
              <a:extLst>
                <a:ext uri="{FF2B5EF4-FFF2-40B4-BE49-F238E27FC236}">
                  <a16:creationId xmlns:a16="http://schemas.microsoft.com/office/drawing/2014/main" id="{5DDE7EDF-E4A9-4F97-821C-530F2D3E43E0}"/>
                </a:ext>
              </a:extLst>
            </p:cNvPr>
            <p:cNvSpPr txBox="1">
              <a:spLocks/>
            </p:cNvSpPr>
            <p:nvPr/>
          </p:nvSpPr>
          <p:spPr>
            <a:xfrm>
              <a:off x="1131469" y="470953"/>
              <a:ext cx="9950488" cy="752836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3600" b="1" spc="600" dirty="0">
                  <a:solidFill>
                    <a:schemeClr val="accent1"/>
                  </a:solidFill>
                  <a:latin typeface="+mj-ea"/>
                </a:rPr>
                <a:t>激励相容性验证</a:t>
              </a:r>
              <a:endParaRPr lang="en-US" altLang="zh-CN" sz="3600" b="1" spc="600" dirty="0">
                <a:solidFill>
                  <a:schemeClr val="accent1"/>
                </a:solidFill>
                <a:latin typeface="+mj-ea"/>
              </a:endParaRPr>
            </a:p>
          </p:txBody>
        </p:sp>
        <p:cxnSp>
          <p:nvCxnSpPr>
            <p:cNvPr id="334" name="直接连接符 333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  <a:extLst>
                <a:ext uri="{FF2B5EF4-FFF2-40B4-BE49-F238E27FC236}">
                  <a16:creationId xmlns:a16="http://schemas.microsoft.com/office/drawing/2014/main" id="{D1737BC3-F004-4CC4-9FA4-7F038A3549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3" y="1223789"/>
              <a:ext cx="92512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B3AC39D9-7BD9-4A19-A945-70B0EF0EA1CC}"/>
              </a:ext>
            </a:extLst>
          </p:cNvPr>
          <p:cNvCxnSpPr>
            <a:cxnSpLocks/>
          </p:cNvCxnSpPr>
          <p:nvPr/>
        </p:nvCxnSpPr>
        <p:spPr>
          <a:xfrm>
            <a:off x="468516" y="6345238"/>
            <a:ext cx="1125496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5" name="图片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63" y="28986928"/>
            <a:ext cx="6311404" cy="6109976"/>
          </a:xfrm>
          <a:prstGeom prst="rect">
            <a:avLst/>
          </a:prstGeom>
        </p:spPr>
      </p:pic>
      <p:sp>
        <p:nvSpPr>
          <p:cNvPr id="340" name="文本占位符 27"/>
          <p:cNvSpPr txBox="1">
            <a:spLocks/>
          </p:cNvSpPr>
          <p:nvPr/>
        </p:nvSpPr>
        <p:spPr>
          <a:xfrm>
            <a:off x="105443" y="35097579"/>
            <a:ext cx="8481442" cy="6259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联络线交换功率、容量价格均收敛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10" y="1520765"/>
            <a:ext cx="5308356" cy="15091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10" y="3029930"/>
            <a:ext cx="5308356" cy="208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1495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4632774" y="572610"/>
            <a:ext cx="37223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总结与展望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5566275" y="1290093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27</a:t>
            </a:fld>
            <a:endParaRPr 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58578B4-3967-4A38-9511-C77EB3DA37D5}"/>
              </a:ext>
            </a:extLst>
          </p:cNvPr>
          <p:cNvCxnSpPr>
            <a:cxnSpLocks/>
          </p:cNvCxnSpPr>
          <p:nvPr/>
        </p:nvCxnSpPr>
        <p:spPr>
          <a:xfrm flipH="1">
            <a:off x="6095999" y="2778331"/>
            <a:ext cx="1" cy="332713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7257AFE-CAE7-46AD-90E7-E39AB358FD6C}"/>
              </a:ext>
            </a:extLst>
          </p:cNvPr>
          <p:cNvGrpSpPr/>
          <p:nvPr/>
        </p:nvGrpSpPr>
        <p:grpSpPr>
          <a:xfrm>
            <a:off x="1397640" y="2671814"/>
            <a:ext cx="4137847" cy="774559"/>
            <a:chOff x="1130619" y="2196617"/>
            <a:chExt cx="4137847" cy="774559"/>
          </a:xfrm>
        </p:grpSpPr>
        <p:sp>
          <p:nvSpPr>
            <p:cNvPr id="45" name="文本框 44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76CC5437-3551-4265-A96B-9D28FF87AABE}"/>
                </a:ext>
              </a:extLst>
            </p:cNvPr>
            <p:cNvSpPr txBox="1"/>
            <p:nvPr/>
          </p:nvSpPr>
          <p:spPr>
            <a:xfrm>
              <a:off x="2009727" y="2303134"/>
              <a:ext cx="32587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32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不确定性</a:t>
              </a:r>
              <a:endPara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0" name="iconfont-1025-740872">
              <a:extLst>
                <a:ext uri="{FF2B5EF4-FFF2-40B4-BE49-F238E27FC236}">
                  <a16:creationId xmlns:a16="http://schemas.microsoft.com/office/drawing/2014/main" id="{114E705D-FAE4-4E35-A12E-8669E9A6D747}"/>
                </a:ext>
              </a:extLst>
            </p:cNvPr>
            <p:cNvSpPr/>
            <p:nvPr/>
          </p:nvSpPr>
          <p:spPr>
            <a:xfrm>
              <a:off x="1130619" y="2196617"/>
              <a:ext cx="744611" cy="774559"/>
            </a:xfrm>
            <a:custGeom>
              <a:avLst/>
              <a:gdLst>
                <a:gd name="T0" fmla="*/ 11807 w 12172"/>
                <a:gd name="T1" fmla="*/ 3090 h 12659"/>
                <a:gd name="T2" fmla="*/ 12172 w 12172"/>
                <a:gd name="T3" fmla="*/ 1741 h 12659"/>
                <a:gd name="T4" fmla="*/ 11662 w 12172"/>
                <a:gd name="T5" fmla="*/ 858 h 12659"/>
                <a:gd name="T6" fmla="*/ 11167 w 12172"/>
                <a:gd name="T7" fmla="*/ 992 h 12659"/>
                <a:gd name="T8" fmla="*/ 10182 w 12172"/>
                <a:gd name="T9" fmla="*/ 0 h 12659"/>
                <a:gd name="T10" fmla="*/ 9164 w 12172"/>
                <a:gd name="T11" fmla="*/ 0 h 12659"/>
                <a:gd name="T12" fmla="*/ 9032 w 12172"/>
                <a:gd name="T13" fmla="*/ 498 h 12659"/>
                <a:gd name="T14" fmla="*/ 8666 w 12172"/>
                <a:gd name="T15" fmla="*/ 859 h 12659"/>
                <a:gd name="T16" fmla="*/ 7689 w 12172"/>
                <a:gd name="T17" fmla="*/ 859 h 12659"/>
                <a:gd name="T18" fmla="*/ 7682 w 12172"/>
                <a:gd name="T19" fmla="*/ 855 h 12659"/>
                <a:gd name="T20" fmla="*/ 7679 w 12172"/>
                <a:gd name="T21" fmla="*/ 859 h 12659"/>
                <a:gd name="T22" fmla="*/ 810 w 12172"/>
                <a:gd name="T23" fmla="*/ 859 h 12659"/>
                <a:gd name="T24" fmla="*/ 0 w 12172"/>
                <a:gd name="T25" fmla="*/ 1670 h 12659"/>
                <a:gd name="T26" fmla="*/ 0 w 12172"/>
                <a:gd name="T27" fmla="*/ 11850 h 12659"/>
                <a:gd name="T28" fmla="*/ 810 w 12172"/>
                <a:gd name="T29" fmla="*/ 12659 h 12659"/>
                <a:gd name="T30" fmla="*/ 9990 w 12172"/>
                <a:gd name="T31" fmla="*/ 12659 h 12659"/>
                <a:gd name="T32" fmla="*/ 10800 w 12172"/>
                <a:gd name="T33" fmla="*/ 11850 h 12659"/>
                <a:gd name="T34" fmla="*/ 10800 w 12172"/>
                <a:gd name="T35" fmla="*/ 4270 h 12659"/>
                <a:gd name="T36" fmla="*/ 11658 w 12172"/>
                <a:gd name="T37" fmla="*/ 4332 h 12659"/>
                <a:gd name="T38" fmla="*/ 12168 w 12172"/>
                <a:gd name="T39" fmla="*/ 3450 h 12659"/>
                <a:gd name="T40" fmla="*/ 11807 w 12172"/>
                <a:gd name="T41" fmla="*/ 3090 h 12659"/>
                <a:gd name="T42" fmla="*/ 2422 w 12172"/>
                <a:gd name="T43" fmla="*/ 3801 h 12659"/>
                <a:gd name="T44" fmla="*/ 5470 w 12172"/>
                <a:gd name="T45" fmla="*/ 3801 h 12659"/>
                <a:gd name="T46" fmla="*/ 5992 w 12172"/>
                <a:gd name="T47" fmla="*/ 4452 h 12659"/>
                <a:gd name="T48" fmla="*/ 5470 w 12172"/>
                <a:gd name="T49" fmla="*/ 5102 h 12659"/>
                <a:gd name="T50" fmla="*/ 2422 w 12172"/>
                <a:gd name="T51" fmla="*/ 5102 h 12659"/>
                <a:gd name="T52" fmla="*/ 1900 w 12172"/>
                <a:gd name="T53" fmla="*/ 4452 h 12659"/>
                <a:gd name="T54" fmla="*/ 2422 w 12172"/>
                <a:gd name="T55" fmla="*/ 3801 h 12659"/>
                <a:gd name="T56" fmla="*/ 8685 w 12172"/>
                <a:gd name="T57" fmla="*/ 10335 h 12659"/>
                <a:gd name="T58" fmla="*/ 2422 w 12172"/>
                <a:gd name="T59" fmla="*/ 10335 h 12659"/>
                <a:gd name="T60" fmla="*/ 1900 w 12172"/>
                <a:gd name="T61" fmla="*/ 9685 h 12659"/>
                <a:gd name="T62" fmla="*/ 2422 w 12172"/>
                <a:gd name="T63" fmla="*/ 9034 h 12659"/>
                <a:gd name="T64" fmla="*/ 8685 w 12172"/>
                <a:gd name="T65" fmla="*/ 9034 h 12659"/>
                <a:gd name="T66" fmla="*/ 9207 w 12172"/>
                <a:gd name="T67" fmla="*/ 9685 h 12659"/>
                <a:gd name="T68" fmla="*/ 8685 w 12172"/>
                <a:gd name="T69" fmla="*/ 10335 h 12659"/>
                <a:gd name="T70" fmla="*/ 8685 w 12172"/>
                <a:gd name="T71" fmla="*/ 7718 h 12659"/>
                <a:gd name="T72" fmla="*/ 2422 w 12172"/>
                <a:gd name="T73" fmla="*/ 7718 h 12659"/>
                <a:gd name="T74" fmla="*/ 1900 w 12172"/>
                <a:gd name="T75" fmla="*/ 7068 h 12659"/>
                <a:gd name="T76" fmla="*/ 2422 w 12172"/>
                <a:gd name="T77" fmla="*/ 6418 h 12659"/>
                <a:gd name="T78" fmla="*/ 2422 w 12172"/>
                <a:gd name="T79" fmla="*/ 6417 h 12659"/>
                <a:gd name="T80" fmla="*/ 8685 w 12172"/>
                <a:gd name="T81" fmla="*/ 6417 h 12659"/>
                <a:gd name="T82" fmla="*/ 9207 w 12172"/>
                <a:gd name="T83" fmla="*/ 7068 h 12659"/>
                <a:gd name="T84" fmla="*/ 8685 w 12172"/>
                <a:gd name="T85" fmla="*/ 7718 h 12659"/>
                <a:gd name="T86" fmla="*/ 9672 w 12172"/>
                <a:gd name="T87" fmla="*/ 3642 h 12659"/>
                <a:gd name="T88" fmla="*/ 8622 w 12172"/>
                <a:gd name="T89" fmla="*/ 2593 h 12659"/>
                <a:gd name="T90" fmla="*/ 9672 w 12172"/>
                <a:gd name="T91" fmla="*/ 1543 h 12659"/>
                <a:gd name="T92" fmla="*/ 10722 w 12172"/>
                <a:gd name="T93" fmla="*/ 2593 h 12659"/>
                <a:gd name="T94" fmla="*/ 9672 w 12172"/>
                <a:gd name="T95" fmla="*/ 3642 h 12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172" h="12659">
                  <a:moveTo>
                    <a:pt x="11807" y="3090"/>
                  </a:moveTo>
                  <a:cubicBezTo>
                    <a:pt x="11534" y="2619"/>
                    <a:pt x="11698" y="2015"/>
                    <a:pt x="12172" y="1741"/>
                  </a:cubicBezTo>
                  <a:lnTo>
                    <a:pt x="11662" y="858"/>
                  </a:lnTo>
                  <a:cubicBezTo>
                    <a:pt x="11517" y="944"/>
                    <a:pt x="11347" y="992"/>
                    <a:pt x="11167" y="992"/>
                  </a:cubicBezTo>
                  <a:cubicBezTo>
                    <a:pt x="10622" y="992"/>
                    <a:pt x="10182" y="548"/>
                    <a:pt x="10182" y="0"/>
                  </a:cubicBezTo>
                  <a:lnTo>
                    <a:pt x="9164" y="0"/>
                  </a:lnTo>
                  <a:cubicBezTo>
                    <a:pt x="9165" y="169"/>
                    <a:pt x="9123" y="341"/>
                    <a:pt x="9032" y="498"/>
                  </a:cubicBezTo>
                  <a:cubicBezTo>
                    <a:pt x="8941" y="654"/>
                    <a:pt x="8813" y="776"/>
                    <a:pt x="8666" y="859"/>
                  </a:cubicBezTo>
                  <a:lnTo>
                    <a:pt x="7689" y="859"/>
                  </a:lnTo>
                  <a:cubicBezTo>
                    <a:pt x="7687" y="858"/>
                    <a:pt x="7684" y="857"/>
                    <a:pt x="7682" y="855"/>
                  </a:cubicBezTo>
                  <a:lnTo>
                    <a:pt x="7679" y="859"/>
                  </a:lnTo>
                  <a:lnTo>
                    <a:pt x="810" y="859"/>
                  </a:lnTo>
                  <a:cubicBezTo>
                    <a:pt x="365" y="859"/>
                    <a:pt x="0" y="1224"/>
                    <a:pt x="0" y="1670"/>
                  </a:cubicBezTo>
                  <a:lnTo>
                    <a:pt x="0" y="11850"/>
                  </a:lnTo>
                  <a:cubicBezTo>
                    <a:pt x="0" y="12295"/>
                    <a:pt x="365" y="12659"/>
                    <a:pt x="810" y="12659"/>
                  </a:cubicBezTo>
                  <a:lnTo>
                    <a:pt x="9990" y="12659"/>
                  </a:lnTo>
                  <a:cubicBezTo>
                    <a:pt x="10435" y="12659"/>
                    <a:pt x="10800" y="12295"/>
                    <a:pt x="10800" y="11850"/>
                  </a:cubicBezTo>
                  <a:lnTo>
                    <a:pt x="10800" y="4270"/>
                  </a:lnTo>
                  <a:cubicBezTo>
                    <a:pt x="11071" y="4164"/>
                    <a:pt x="11386" y="4176"/>
                    <a:pt x="11658" y="4332"/>
                  </a:cubicBezTo>
                  <a:lnTo>
                    <a:pt x="12168" y="3450"/>
                  </a:lnTo>
                  <a:cubicBezTo>
                    <a:pt x="12022" y="3367"/>
                    <a:pt x="11896" y="3246"/>
                    <a:pt x="11807" y="3090"/>
                  </a:cubicBezTo>
                  <a:close/>
                  <a:moveTo>
                    <a:pt x="2422" y="3801"/>
                  </a:moveTo>
                  <a:lnTo>
                    <a:pt x="5470" y="3801"/>
                  </a:lnTo>
                  <a:cubicBezTo>
                    <a:pt x="5758" y="3801"/>
                    <a:pt x="5992" y="4092"/>
                    <a:pt x="5992" y="4452"/>
                  </a:cubicBezTo>
                  <a:cubicBezTo>
                    <a:pt x="5992" y="4811"/>
                    <a:pt x="5758" y="5102"/>
                    <a:pt x="5470" y="5102"/>
                  </a:cubicBezTo>
                  <a:lnTo>
                    <a:pt x="2422" y="5102"/>
                  </a:lnTo>
                  <a:cubicBezTo>
                    <a:pt x="2134" y="5102"/>
                    <a:pt x="1900" y="4811"/>
                    <a:pt x="1900" y="4452"/>
                  </a:cubicBezTo>
                  <a:cubicBezTo>
                    <a:pt x="1900" y="4092"/>
                    <a:pt x="2134" y="3801"/>
                    <a:pt x="2422" y="3801"/>
                  </a:cubicBezTo>
                  <a:close/>
                  <a:moveTo>
                    <a:pt x="8685" y="10335"/>
                  </a:moveTo>
                  <a:lnTo>
                    <a:pt x="2422" y="10335"/>
                  </a:lnTo>
                  <a:cubicBezTo>
                    <a:pt x="2134" y="10335"/>
                    <a:pt x="1900" y="10045"/>
                    <a:pt x="1900" y="9685"/>
                  </a:cubicBezTo>
                  <a:cubicBezTo>
                    <a:pt x="1900" y="9325"/>
                    <a:pt x="2134" y="9034"/>
                    <a:pt x="2422" y="9034"/>
                  </a:cubicBezTo>
                  <a:lnTo>
                    <a:pt x="8685" y="9034"/>
                  </a:lnTo>
                  <a:cubicBezTo>
                    <a:pt x="8973" y="9034"/>
                    <a:pt x="9207" y="9325"/>
                    <a:pt x="9207" y="9685"/>
                  </a:cubicBezTo>
                  <a:cubicBezTo>
                    <a:pt x="9207" y="10045"/>
                    <a:pt x="8973" y="10335"/>
                    <a:pt x="8685" y="10335"/>
                  </a:cubicBezTo>
                  <a:close/>
                  <a:moveTo>
                    <a:pt x="8685" y="7718"/>
                  </a:moveTo>
                  <a:lnTo>
                    <a:pt x="2422" y="7718"/>
                  </a:lnTo>
                  <a:cubicBezTo>
                    <a:pt x="2134" y="7718"/>
                    <a:pt x="1900" y="7428"/>
                    <a:pt x="1900" y="7068"/>
                  </a:cubicBezTo>
                  <a:cubicBezTo>
                    <a:pt x="1900" y="6709"/>
                    <a:pt x="2134" y="6418"/>
                    <a:pt x="2422" y="6418"/>
                  </a:cubicBezTo>
                  <a:lnTo>
                    <a:pt x="2422" y="6417"/>
                  </a:lnTo>
                  <a:lnTo>
                    <a:pt x="8685" y="6417"/>
                  </a:lnTo>
                  <a:cubicBezTo>
                    <a:pt x="8973" y="6417"/>
                    <a:pt x="9207" y="6708"/>
                    <a:pt x="9207" y="7068"/>
                  </a:cubicBezTo>
                  <a:cubicBezTo>
                    <a:pt x="9207" y="7428"/>
                    <a:pt x="8973" y="7718"/>
                    <a:pt x="8685" y="7718"/>
                  </a:cubicBezTo>
                  <a:close/>
                  <a:moveTo>
                    <a:pt x="9672" y="3642"/>
                  </a:moveTo>
                  <a:cubicBezTo>
                    <a:pt x="9092" y="3642"/>
                    <a:pt x="8622" y="3173"/>
                    <a:pt x="8622" y="2593"/>
                  </a:cubicBezTo>
                  <a:cubicBezTo>
                    <a:pt x="8622" y="2014"/>
                    <a:pt x="9092" y="1543"/>
                    <a:pt x="9672" y="1543"/>
                  </a:cubicBezTo>
                  <a:cubicBezTo>
                    <a:pt x="10252" y="1543"/>
                    <a:pt x="10722" y="2013"/>
                    <a:pt x="10722" y="2593"/>
                  </a:cubicBezTo>
                  <a:cubicBezTo>
                    <a:pt x="10722" y="3172"/>
                    <a:pt x="10252" y="3642"/>
                    <a:pt x="9672" y="36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D4F0982-F1A2-469A-9460-7AAEB6FDECB8}"/>
              </a:ext>
            </a:extLst>
          </p:cNvPr>
          <p:cNvGrpSpPr/>
          <p:nvPr/>
        </p:nvGrpSpPr>
        <p:grpSpPr>
          <a:xfrm>
            <a:off x="6988178" y="2658926"/>
            <a:ext cx="4513788" cy="787447"/>
            <a:chOff x="6755096" y="2183729"/>
            <a:chExt cx="4513788" cy="787447"/>
          </a:xfrm>
        </p:grpSpPr>
        <p:sp>
          <p:nvSpPr>
            <p:cNvPr id="46" name="文本框 45" descr="e7d195523061f1c0220a3acd2f99070e22f7f2176c6c61f4AB5BC6AF3DF28E09514168BD2F6654DA4347BEC42B9A9B38EB2139F52FD80B94EB8F1B847F5BC18ECD11DB8433CCABD6DAEA8D49E99C31D3DFA65C87AB47BEF22E7091100B95F7EB9063B311ACF53306D85C27B5A91A374FC8D0A47885948E52CC1AF70D740300A5601AB3F19CEEC2D4">
              <a:extLst>
                <a:ext uri="{FF2B5EF4-FFF2-40B4-BE49-F238E27FC236}">
                  <a16:creationId xmlns:a16="http://schemas.microsoft.com/office/drawing/2014/main" id="{2ECFFF12-3E86-4853-8935-6C88DB60931B}"/>
                </a:ext>
              </a:extLst>
            </p:cNvPr>
            <p:cNvSpPr txBox="1"/>
            <p:nvPr/>
          </p:nvSpPr>
          <p:spPr>
            <a:xfrm>
              <a:off x="7320949" y="2285063"/>
              <a:ext cx="39479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3200" b="1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多主体</a:t>
              </a:r>
            </a:p>
          </p:txBody>
        </p:sp>
        <p:sp>
          <p:nvSpPr>
            <p:cNvPr id="102" name="iconfont-11145-7310420">
              <a:extLst>
                <a:ext uri="{FF2B5EF4-FFF2-40B4-BE49-F238E27FC236}">
                  <a16:creationId xmlns:a16="http://schemas.microsoft.com/office/drawing/2014/main" id="{7E531A18-766E-490D-BF50-399ECB3C037B}"/>
                </a:ext>
              </a:extLst>
            </p:cNvPr>
            <p:cNvSpPr/>
            <p:nvPr/>
          </p:nvSpPr>
          <p:spPr>
            <a:xfrm>
              <a:off x="6755096" y="2183729"/>
              <a:ext cx="787283" cy="787447"/>
            </a:xfrm>
            <a:custGeom>
              <a:avLst/>
              <a:gdLst>
                <a:gd name="T0" fmla="*/ 4993 w 9984"/>
                <a:gd name="T1" fmla="*/ 2140 h 9986"/>
                <a:gd name="T2" fmla="*/ 3923 w 9984"/>
                <a:gd name="T3" fmla="*/ 1071 h 9986"/>
                <a:gd name="T4" fmla="*/ 4993 w 9984"/>
                <a:gd name="T5" fmla="*/ 0 h 9986"/>
                <a:gd name="T6" fmla="*/ 6063 w 9984"/>
                <a:gd name="T7" fmla="*/ 1071 h 9986"/>
                <a:gd name="T8" fmla="*/ 4993 w 9984"/>
                <a:gd name="T9" fmla="*/ 2140 h 9986"/>
                <a:gd name="T10" fmla="*/ 9984 w 9984"/>
                <a:gd name="T11" fmla="*/ 6419 h 9986"/>
                <a:gd name="T12" fmla="*/ 8558 w 9984"/>
                <a:gd name="T13" fmla="*/ 7846 h 9986"/>
                <a:gd name="T14" fmla="*/ 7845 w 9984"/>
                <a:gd name="T15" fmla="*/ 7846 h 9986"/>
                <a:gd name="T16" fmla="*/ 6419 w 9984"/>
                <a:gd name="T17" fmla="*/ 6419 h 9986"/>
                <a:gd name="T18" fmla="*/ 7845 w 9984"/>
                <a:gd name="T19" fmla="*/ 3567 h 9986"/>
                <a:gd name="T20" fmla="*/ 7133 w 9984"/>
                <a:gd name="T21" fmla="*/ 3567 h 9986"/>
                <a:gd name="T22" fmla="*/ 6420 w 9984"/>
                <a:gd name="T23" fmla="*/ 2854 h 9986"/>
                <a:gd name="T24" fmla="*/ 5708 w 9984"/>
                <a:gd name="T25" fmla="*/ 2854 h 9986"/>
                <a:gd name="T26" fmla="*/ 5708 w 9984"/>
                <a:gd name="T27" fmla="*/ 8559 h 9986"/>
                <a:gd name="T28" fmla="*/ 6420 w 9984"/>
                <a:gd name="T29" fmla="*/ 9273 h 9986"/>
                <a:gd name="T30" fmla="*/ 7133 w 9984"/>
                <a:gd name="T31" fmla="*/ 9273 h 9986"/>
                <a:gd name="T32" fmla="*/ 7845 w 9984"/>
                <a:gd name="T33" fmla="*/ 9986 h 9986"/>
                <a:gd name="T34" fmla="*/ 2140 w 9984"/>
                <a:gd name="T35" fmla="*/ 9986 h 9986"/>
                <a:gd name="T36" fmla="*/ 2853 w 9984"/>
                <a:gd name="T37" fmla="*/ 9273 h 9986"/>
                <a:gd name="T38" fmla="*/ 3565 w 9984"/>
                <a:gd name="T39" fmla="*/ 9273 h 9986"/>
                <a:gd name="T40" fmla="*/ 4278 w 9984"/>
                <a:gd name="T41" fmla="*/ 8559 h 9986"/>
                <a:gd name="T42" fmla="*/ 4299 w 9984"/>
                <a:gd name="T43" fmla="*/ 8559 h 9986"/>
                <a:gd name="T44" fmla="*/ 4278 w 9984"/>
                <a:gd name="T45" fmla="*/ 2854 h 9986"/>
                <a:gd name="T46" fmla="*/ 3565 w 9984"/>
                <a:gd name="T47" fmla="*/ 2854 h 9986"/>
                <a:gd name="T48" fmla="*/ 2853 w 9984"/>
                <a:gd name="T49" fmla="*/ 3567 h 9986"/>
                <a:gd name="T50" fmla="*/ 2140 w 9984"/>
                <a:gd name="T51" fmla="*/ 3567 h 9986"/>
                <a:gd name="T52" fmla="*/ 3566 w 9984"/>
                <a:gd name="T53" fmla="*/ 6419 h 9986"/>
                <a:gd name="T54" fmla="*/ 2140 w 9984"/>
                <a:gd name="T55" fmla="*/ 7846 h 9986"/>
                <a:gd name="T56" fmla="*/ 1426 w 9984"/>
                <a:gd name="T57" fmla="*/ 7846 h 9986"/>
                <a:gd name="T58" fmla="*/ 0 w 9984"/>
                <a:gd name="T59" fmla="*/ 6419 h 9986"/>
                <a:gd name="T60" fmla="*/ 1426 w 9984"/>
                <a:gd name="T61" fmla="*/ 3567 h 9986"/>
                <a:gd name="T62" fmla="*/ 714 w 9984"/>
                <a:gd name="T63" fmla="*/ 3567 h 9986"/>
                <a:gd name="T64" fmla="*/ 714 w 9984"/>
                <a:gd name="T65" fmla="*/ 2854 h 9986"/>
                <a:gd name="T66" fmla="*/ 2853 w 9984"/>
                <a:gd name="T67" fmla="*/ 2854 h 9986"/>
                <a:gd name="T68" fmla="*/ 3565 w 9984"/>
                <a:gd name="T69" fmla="*/ 2142 h 9986"/>
                <a:gd name="T70" fmla="*/ 6419 w 9984"/>
                <a:gd name="T71" fmla="*/ 2142 h 9986"/>
                <a:gd name="T72" fmla="*/ 7132 w 9984"/>
                <a:gd name="T73" fmla="*/ 2854 h 9986"/>
                <a:gd name="T74" fmla="*/ 9270 w 9984"/>
                <a:gd name="T75" fmla="*/ 2854 h 9986"/>
                <a:gd name="T76" fmla="*/ 9270 w 9984"/>
                <a:gd name="T77" fmla="*/ 3567 h 9986"/>
                <a:gd name="T78" fmla="*/ 8557 w 9984"/>
                <a:gd name="T79" fmla="*/ 3567 h 9986"/>
                <a:gd name="T80" fmla="*/ 9984 w 9984"/>
                <a:gd name="T81" fmla="*/ 6419 h 9986"/>
                <a:gd name="T82" fmla="*/ 1784 w 9984"/>
                <a:gd name="T83" fmla="*/ 4279 h 9986"/>
                <a:gd name="T84" fmla="*/ 714 w 9984"/>
                <a:gd name="T85" fmla="*/ 6418 h 9986"/>
                <a:gd name="T86" fmla="*/ 2853 w 9984"/>
                <a:gd name="T87" fmla="*/ 6418 h 9986"/>
                <a:gd name="T88" fmla="*/ 1784 w 9984"/>
                <a:gd name="T89" fmla="*/ 4279 h 9986"/>
                <a:gd name="T90" fmla="*/ 9272 w 9984"/>
                <a:gd name="T91" fmla="*/ 6419 h 9986"/>
                <a:gd name="T92" fmla="*/ 8202 w 9984"/>
                <a:gd name="T93" fmla="*/ 4281 h 9986"/>
                <a:gd name="T94" fmla="*/ 7132 w 9984"/>
                <a:gd name="T95" fmla="*/ 6419 h 9986"/>
                <a:gd name="T96" fmla="*/ 9272 w 9984"/>
                <a:gd name="T97" fmla="*/ 6419 h 9986"/>
                <a:gd name="T98" fmla="*/ 9272 w 9984"/>
                <a:gd name="T99" fmla="*/ 6419 h 9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84" h="9986">
                  <a:moveTo>
                    <a:pt x="4993" y="2140"/>
                  </a:moveTo>
                  <a:cubicBezTo>
                    <a:pt x="4402" y="2140"/>
                    <a:pt x="3923" y="1663"/>
                    <a:pt x="3923" y="1071"/>
                  </a:cubicBezTo>
                  <a:cubicBezTo>
                    <a:pt x="3923" y="479"/>
                    <a:pt x="4400" y="0"/>
                    <a:pt x="4993" y="0"/>
                  </a:cubicBezTo>
                  <a:cubicBezTo>
                    <a:pt x="5585" y="0"/>
                    <a:pt x="6063" y="478"/>
                    <a:pt x="6063" y="1071"/>
                  </a:cubicBezTo>
                  <a:cubicBezTo>
                    <a:pt x="6063" y="1662"/>
                    <a:pt x="5584" y="2140"/>
                    <a:pt x="4993" y="2140"/>
                  </a:cubicBezTo>
                  <a:close/>
                  <a:moveTo>
                    <a:pt x="9984" y="6419"/>
                  </a:moveTo>
                  <a:cubicBezTo>
                    <a:pt x="9984" y="7211"/>
                    <a:pt x="9349" y="7846"/>
                    <a:pt x="8558" y="7846"/>
                  </a:cubicBezTo>
                  <a:lnTo>
                    <a:pt x="7845" y="7846"/>
                  </a:lnTo>
                  <a:cubicBezTo>
                    <a:pt x="7054" y="7844"/>
                    <a:pt x="6419" y="7211"/>
                    <a:pt x="6419" y="6419"/>
                  </a:cubicBezTo>
                  <a:lnTo>
                    <a:pt x="7845" y="3567"/>
                  </a:lnTo>
                  <a:lnTo>
                    <a:pt x="7133" y="3567"/>
                  </a:lnTo>
                  <a:cubicBezTo>
                    <a:pt x="6740" y="3567"/>
                    <a:pt x="6420" y="3246"/>
                    <a:pt x="6420" y="2854"/>
                  </a:cubicBezTo>
                  <a:lnTo>
                    <a:pt x="5708" y="2854"/>
                  </a:lnTo>
                  <a:lnTo>
                    <a:pt x="5708" y="8559"/>
                  </a:lnTo>
                  <a:cubicBezTo>
                    <a:pt x="6008" y="8559"/>
                    <a:pt x="6420" y="8881"/>
                    <a:pt x="6420" y="9273"/>
                  </a:cubicBezTo>
                  <a:lnTo>
                    <a:pt x="7133" y="9273"/>
                  </a:lnTo>
                  <a:cubicBezTo>
                    <a:pt x="7433" y="9273"/>
                    <a:pt x="7845" y="9594"/>
                    <a:pt x="7845" y="9986"/>
                  </a:cubicBezTo>
                  <a:lnTo>
                    <a:pt x="2140" y="9986"/>
                  </a:lnTo>
                  <a:cubicBezTo>
                    <a:pt x="2140" y="9593"/>
                    <a:pt x="2554" y="9273"/>
                    <a:pt x="2853" y="9273"/>
                  </a:cubicBezTo>
                  <a:lnTo>
                    <a:pt x="3565" y="9273"/>
                  </a:lnTo>
                  <a:cubicBezTo>
                    <a:pt x="3565" y="8881"/>
                    <a:pt x="3979" y="8559"/>
                    <a:pt x="4278" y="8559"/>
                  </a:cubicBezTo>
                  <a:lnTo>
                    <a:pt x="4299" y="8559"/>
                  </a:lnTo>
                  <a:lnTo>
                    <a:pt x="4278" y="2854"/>
                  </a:lnTo>
                  <a:lnTo>
                    <a:pt x="3565" y="2854"/>
                  </a:lnTo>
                  <a:cubicBezTo>
                    <a:pt x="3565" y="3247"/>
                    <a:pt x="3244" y="3567"/>
                    <a:pt x="2853" y="3567"/>
                  </a:cubicBezTo>
                  <a:lnTo>
                    <a:pt x="2140" y="3567"/>
                  </a:lnTo>
                  <a:lnTo>
                    <a:pt x="3566" y="6419"/>
                  </a:lnTo>
                  <a:cubicBezTo>
                    <a:pt x="3566" y="7211"/>
                    <a:pt x="2931" y="7846"/>
                    <a:pt x="2140" y="7846"/>
                  </a:cubicBezTo>
                  <a:lnTo>
                    <a:pt x="1426" y="7846"/>
                  </a:lnTo>
                  <a:cubicBezTo>
                    <a:pt x="635" y="7846"/>
                    <a:pt x="0" y="7211"/>
                    <a:pt x="0" y="6419"/>
                  </a:cubicBezTo>
                  <a:lnTo>
                    <a:pt x="1426" y="3567"/>
                  </a:lnTo>
                  <a:lnTo>
                    <a:pt x="714" y="3567"/>
                  </a:lnTo>
                  <a:lnTo>
                    <a:pt x="714" y="2854"/>
                  </a:lnTo>
                  <a:lnTo>
                    <a:pt x="2853" y="2854"/>
                  </a:lnTo>
                  <a:cubicBezTo>
                    <a:pt x="2853" y="2462"/>
                    <a:pt x="3174" y="2142"/>
                    <a:pt x="3565" y="2142"/>
                  </a:cubicBezTo>
                  <a:lnTo>
                    <a:pt x="6419" y="2142"/>
                  </a:lnTo>
                  <a:cubicBezTo>
                    <a:pt x="6812" y="2142"/>
                    <a:pt x="7132" y="2463"/>
                    <a:pt x="7132" y="2854"/>
                  </a:cubicBezTo>
                  <a:lnTo>
                    <a:pt x="9270" y="2854"/>
                  </a:lnTo>
                  <a:lnTo>
                    <a:pt x="9270" y="3567"/>
                  </a:lnTo>
                  <a:lnTo>
                    <a:pt x="8557" y="3567"/>
                  </a:lnTo>
                  <a:lnTo>
                    <a:pt x="9984" y="6419"/>
                  </a:lnTo>
                  <a:close/>
                  <a:moveTo>
                    <a:pt x="1784" y="4279"/>
                  </a:moveTo>
                  <a:lnTo>
                    <a:pt x="714" y="6418"/>
                  </a:lnTo>
                  <a:lnTo>
                    <a:pt x="2853" y="6418"/>
                  </a:lnTo>
                  <a:lnTo>
                    <a:pt x="1784" y="4279"/>
                  </a:lnTo>
                  <a:close/>
                  <a:moveTo>
                    <a:pt x="9272" y="6419"/>
                  </a:moveTo>
                  <a:lnTo>
                    <a:pt x="8202" y="4281"/>
                  </a:lnTo>
                  <a:lnTo>
                    <a:pt x="7132" y="6419"/>
                  </a:lnTo>
                  <a:lnTo>
                    <a:pt x="9272" y="6419"/>
                  </a:lnTo>
                  <a:close/>
                  <a:moveTo>
                    <a:pt x="9272" y="6419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1532132" y="3983551"/>
            <a:ext cx="390477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面对调频信号的不确定性，基于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随机规划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的出清模型实现系统调频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期望成本最低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0" name="矩形 39"/>
          <p:cNvSpPr/>
          <p:nvPr/>
        </p:nvSpPr>
        <p:spPr>
          <a:xfrm>
            <a:off x="1314050" y="3872752"/>
            <a:ext cx="4088757" cy="136263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79811" y="1391428"/>
            <a:ext cx="80234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本文提出了面向新型资源的调频市场机制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在现有调频市场机制的基础上，引入考虑出力调整成本特性的投标结构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､</a:t>
            </a:r>
            <a:r>
              <a:rPr lang="zh-CN" altLang="en-US" sz="2000" kern="0" dirty="0">
                <a:latin typeface="微软雅黑" pitchFamily="34" charset="-122"/>
                <a:ea typeface="微软雅黑" pitchFamily="34" charset="-122"/>
              </a:rPr>
              <a:t>出清模型和结算规则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｡</a:t>
            </a:r>
          </a:p>
        </p:txBody>
      </p:sp>
      <p:sp>
        <p:nvSpPr>
          <p:cNvPr id="18" name="矩形 17"/>
          <p:cNvSpPr/>
          <p:nvPr/>
        </p:nvSpPr>
        <p:spPr>
          <a:xfrm>
            <a:off x="7090249" y="3976212"/>
            <a:ext cx="39047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建立市场主体投标的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主从博弈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模型，证明所提机制在一定条件下具备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激励相容性</a:t>
            </a:r>
            <a:r>
              <a:rPr lang="zh-CN" altLang="en-US" sz="2200" kern="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9" name="矩形 18"/>
          <p:cNvSpPr/>
          <p:nvPr/>
        </p:nvSpPr>
        <p:spPr>
          <a:xfrm>
            <a:off x="6872167" y="3865413"/>
            <a:ext cx="4088757" cy="136263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3311803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4100363" y="518822"/>
            <a:ext cx="39912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总结与展望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  <a:p>
            <a:pPr algn="ctr"/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5566275" y="1290093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28</a:t>
            </a:fld>
            <a:endParaRPr lang="en-US"/>
          </a:p>
        </p:txBody>
      </p:sp>
      <p:sp>
        <p:nvSpPr>
          <p:cNvPr id="4" name="矩形 3"/>
          <p:cNvSpPr/>
          <p:nvPr/>
        </p:nvSpPr>
        <p:spPr>
          <a:xfrm>
            <a:off x="2303928" y="1953789"/>
            <a:ext cx="75841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本文未考虑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兼容传统机组</a:t>
            </a:r>
            <a:r>
              <a:rPr lang="zh-CN" altLang="en-US" sz="2400" dirty="0"/>
              <a:t>在爬坡速率和爬坡成本等方面的特性</a:t>
            </a:r>
            <a:r>
              <a:rPr lang="en-US" altLang="zh-CN" sz="2400" dirty="0"/>
              <a:t>,</a:t>
            </a:r>
            <a:r>
              <a:rPr lang="zh-CN" altLang="en-US" sz="2400" dirty="0"/>
              <a:t>也没有考虑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跨区域</a:t>
            </a:r>
            <a:r>
              <a:rPr lang="zh-CN" altLang="en-US" sz="2400" dirty="0"/>
              <a:t>频率控制</a:t>
            </a:r>
            <a:r>
              <a:rPr lang="en-US" altLang="zh-CN" sz="2400" dirty="0"/>
              <a:t>｡</a:t>
            </a:r>
            <a:r>
              <a:rPr lang="zh-CN" altLang="en-US" sz="2400" dirty="0"/>
              <a:t>此外</a:t>
            </a:r>
            <a:r>
              <a:rPr lang="en-US" altLang="zh-CN" sz="2400" dirty="0"/>
              <a:t>,</a:t>
            </a:r>
            <a:r>
              <a:rPr lang="zh-CN" altLang="en-US" sz="2400" dirty="0"/>
              <a:t>调频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机会成本</a:t>
            </a:r>
            <a:r>
              <a:rPr lang="zh-CN" altLang="en-US" sz="2400" dirty="0"/>
              <a:t>测算方法或能量和辅助服务</a:t>
            </a:r>
            <a:r>
              <a:rPr lang="zh-CN" altLang="en-US" sz="2400" b="1" kern="0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联合出清方法</a:t>
            </a:r>
            <a:r>
              <a:rPr lang="zh-CN" altLang="en-US" sz="2400" dirty="0"/>
              <a:t>在所提机制下也可能需要修正</a:t>
            </a:r>
            <a:r>
              <a:rPr lang="en-US" altLang="zh-CN" sz="2400" dirty="0"/>
              <a:t>,</a:t>
            </a:r>
            <a:r>
              <a:rPr lang="zh-CN" altLang="en-US" sz="2400" dirty="0"/>
              <a:t>这些是未来工作的重点</a:t>
            </a:r>
            <a:r>
              <a:rPr lang="en-US" altLang="zh-CN" sz="2400" dirty="0"/>
              <a:t>｡</a:t>
            </a: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1704246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4100363" y="518822"/>
            <a:ext cx="3991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参考文献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5566275" y="1290093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29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865517" y="1353479"/>
            <a:ext cx="9995139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[</a:t>
            </a:r>
            <a:r>
              <a:rPr lang="en-US" altLang="zh-CN" sz="1600" dirty="0"/>
              <a:t>1]	</a:t>
            </a:r>
            <a:r>
              <a:rPr lang="zh-CN" altLang="en-US" sz="1600" dirty="0"/>
              <a:t>陈启鑫</a:t>
            </a:r>
            <a:r>
              <a:rPr lang="en-US" altLang="zh-CN" sz="1600" dirty="0"/>
              <a:t>,</a:t>
            </a:r>
            <a:r>
              <a:rPr lang="zh-CN" altLang="en-US" sz="1600" dirty="0"/>
              <a:t>房曦晨</a:t>
            </a:r>
            <a:r>
              <a:rPr lang="en-US" altLang="zh-CN" sz="1600" dirty="0"/>
              <a:t>,</a:t>
            </a:r>
            <a:r>
              <a:rPr lang="zh-CN" altLang="en-US" sz="1600" dirty="0"/>
              <a:t>郭鸿业</a:t>
            </a:r>
            <a:r>
              <a:rPr lang="en-US" altLang="zh-CN" sz="1600" dirty="0"/>
              <a:t>,</a:t>
            </a:r>
            <a:r>
              <a:rPr lang="zh-CN" altLang="en-US" sz="1600" dirty="0"/>
              <a:t>何冠楠</a:t>
            </a:r>
            <a:r>
              <a:rPr lang="en-US" altLang="zh-CN" sz="1600" dirty="0"/>
              <a:t>,</a:t>
            </a:r>
            <a:r>
              <a:rPr lang="zh-CN" altLang="en-US" sz="1600" dirty="0"/>
              <a:t>张达</a:t>
            </a:r>
            <a:r>
              <a:rPr lang="en-US" altLang="zh-CN" sz="1600" dirty="0"/>
              <a:t>,</a:t>
            </a:r>
            <a:r>
              <a:rPr lang="zh-CN" altLang="en-US" sz="1600" dirty="0"/>
              <a:t>夏清</a:t>
            </a:r>
            <a:r>
              <a:rPr lang="en-US" altLang="zh-CN" sz="1600" dirty="0"/>
              <a:t>.</a:t>
            </a:r>
            <a:r>
              <a:rPr lang="zh-CN" altLang="en-US" sz="1600" dirty="0"/>
              <a:t>储能参与电力市场机制：现状与展望</a:t>
            </a:r>
            <a:r>
              <a:rPr lang="en-US" altLang="zh-CN" sz="1600" dirty="0"/>
              <a:t>[J].</a:t>
            </a:r>
            <a:r>
              <a:rPr lang="zh-CN" altLang="en-US" sz="1600" dirty="0"/>
              <a:t>电力系统自动化</a:t>
            </a:r>
            <a:r>
              <a:rPr lang="en-US" altLang="zh-CN" sz="1600" dirty="0"/>
              <a:t>,2021,45(16):14-28.</a:t>
            </a:r>
          </a:p>
          <a:p>
            <a:r>
              <a:rPr lang="en-US" altLang="zh-CN" sz="1600" dirty="0"/>
              <a:t>[2]	Federal Energy Regulatory Commission. Order No. 755</a:t>
            </a:r>
            <a:r>
              <a:rPr lang="zh-CN" altLang="en-US" sz="1600" dirty="0"/>
              <a:t>［</a:t>
            </a:r>
            <a:r>
              <a:rPr lang="en-US" altLang="zh-CN" sz="1600" dirty="0"/>
              <a:t>R</a:t>
            </a:r>
            <a:r>
              <a:rPr lang="zh-CN" altLang="en-US" sz="1600" dirty="0"/>
              <a:t>］</a:t>
            </a:r>
            <a:r>
              <a:rPr lang="en-US" altLang="zh-CN" sz="1600" dirty="0"/>
              <a:t>. Washington DC</a:t>
            </a:r>
            <a:r>
              <a:rPr lang="zh-CN" altLang="en-US" sz="1600" dirty="0"/>
              <a:t>：</a:t>
            </a:r>
            <a:r>
              <a:rPr lang="en-US" altLang="zh-CN" sz="1600" dirty="0"/>
              <a:t>FERC</a:t>
            </a:r>
            <a:r>
              <a:rPr lang="zh-CN" altLang="en-US" sz="1600" dirty="0"/>
              <a:t>，</a:t>
            </a:r>
            <a:r>
              <a:rPr lang="en-US" altLang="zh-CN" sz="1600" dirty="0"/>
              <a:t>2011.</a:t>
            </a:r>
          </a:p>
          <a:p>
            <a:r>
              <a:rPr lang="en-US" altLang="zh-CN" sz="1600" dirty="0"/>
              <a:t>[3]	Federal Energy Regulatory Commission. Order No. 841</a:t>
            </a:r>
            <a:r>
              <a:rPr lang="zh-CN" altLang="en-US" sz="1600" dirty="0"/>
              <a:t>［</a:t>
            </a:r>
            <a:r>
              <a:rPr lang="en-US" altLang="zh-CN" sz="1600" dirty="0"/>
              <a:t>R</a:t>
            </a:r>
            <a:r>
              <a:rPr lang="zh-CN" altLang="en-US" sz="1600" dirty="0"/>
              <a:t>］</a:t>
            </a:r>
            <a:r>
              <a:rPr lang="en-US" altLang="zh-CN" sz="1600" dirty="0"/>
              <a:t>. Washington DC</a:t>
            </a:r>
            <a:r>
              <a:rPr lang="zh-CN" altLang="en-US" sz="1600" dirty="0"/>
              <a:t>：</a:t>
            </a:r>
            <a:r>
              <a:rPr lang="en-US" altLang="zh-CN" sz="1600" dirty="0"/>
              <a:t>FERC</a:t>
            </a:r>
            <a:r>
              <a:rPr lang="zh-CN" altLang="en-US" sz="1600" dirty="0"/>
              <a:t>，</a:t>
            </a:r>
            <a:r>
              <a:rPr lang="en-US" altLang="zh-CN" sz="1600" dirty="0"/>
              <a:t>2018.</a:t>
            </a:r>
          </a:p>
          <a:p>
            <a:r>
              <a:rPr lang="en-US" altLang="zh-CN" sz="1600" dirty="0"/>
              <a:t>[4]	Sakti A, Gallagher KG, Sepulveda N, </a:t>
            </a:r>
            <a:r>
              <a:rPr lang="en-US" altLang="zh-CN" sz="1600" dirty="0" err="1"/>
              <a:t>Uckun</a:t>
            </a:r>
            <a:r>
              <a:rPr lang="en-US" altLang="zh-CN" sz="1600" dirty="0"/>
              <a:t> C, Vergara C, de </a:t>
            </a:r>
            <a:r>
              <a:rPr lang="en-US" altLang="zh-CN" sz="1600" dirty="0" err="1"/>
              <a:t>Sisternes</a:t>
            </a:r>
            <a:r>
              <a:rPr lang="en-US" altLang="zh-CN" sz="1600" dirty="0"/>
              <a:t> FJ, Dees DW, </a:t>
            </a:r>
            <a:r>
              <a:rPr lang="en-US" altLang="zh-CN" sz="1600" dirty="0" err="1"/>
              <a:t>Botterud</a:t>
            </a:r>
            <a:r>
              <a:rPr lang="en-US" altLang="zh-CN" sz="1600" dirty="0"/>
              <a:t> A. Enhanced representations of lithium-ion batteries in power systems models and their effect on the valuation of energy arbitrage applications. Journal of Power Sources. 2017 Feb 28;342:279-91.</a:t>
            </a:r>
          </a:p>
          <a:p>
            <a:r>
              <a:rPr lang="en-US" altLang="zh-CN" sz="1600" dirty="0"/>
              <a:t>[5]	</a:t>
            </a:r>
            <a:r>
              <a:rPr lang="en-US" altLang="zh-CN" sz="1600" dirty="0" err="1"/>
              <a:t>Jin</a:t>
            </a:r>
            <a:r>
              <a:rPr lang="en-US" altLang="zh-CN" sz="1600" dirty="0"/>
              <a:t> C, Tang J, Ghosh P. Optimizing electric vehicle charging with energy storage in the electricity market. IEEE Transactions on Smart Grid. 2013 Feb 13;4(1):311-20. </a:t>
            </a:r>
          </a:p>
          <a:p>
            <a:r>
              <a:rPr lang="en-US" altLang="zh-CN" sz="1600" dirty="0"/>
              <a:t>[6]	</a:t>
            </a:r>
            <a:r>
              <a:rPr lang="zh-CN" altLang="en-US" sz="1600" dirty="0"/>
              <a:t>吴洲洋</a:t>
            </a:r>
            <a:r>
              <a:rPr lang="en-US" altLang="zh-CN" sz="1600" dirty="0"/>
              <a:t>,</a:t>
            </a:r>
            <a:r>
              <a:rPr lang="zh-CN" altLang="en-US" sz="1600" dirty="0"/>
              <a:t>艾欣</a:t>
            </a:r>
            <a:r>
              <a:rPr lang="en-US" altLang="zh-CN" sz="1600" dirty="0"/>
              <a:t>,</a:t>
            </a:r>
            <a:r>
              <a:rPr lang="zh-CN" altLang="en-US" sz="1600" dirty="0"/>
              <a:t>胡俊杰</a:t>
            </a:r>
            <a:r>
              <a:rPr lang="en-US" altLang="zh-CN" sz="1600" dirty="0"/>
              <a:t>.</a:t>
            </a:r>
            <a:r>
              <a:rPr lang="zh-CN" altLang="en-US" sz="1600" dirty="0"/>
              <a:t>需求侧灵活性资源参与调频辅助服务的备用优化与实时调度</a:t>
            </a:r>
            <a:r>
              <a:rPr lang="en-US" altLang="zh-CN" sz="1600" dirty="0"/>
              <a:t>[J].</a:t>
            </a:r>
            <a:r>
              <a:rPr lang="zh-CN" altLang="en-US" sz="1600" dirty="0"/>
              <a:t>电力系统自动化</a:t>
            </a:r>
            <a:r>
              <a:rPr lang="en-US" altLang="zh-CN" sz="1600" dirty="0"/>
              <a:t>,2021,45(06):148-157.</a:t>
            </a:r>
          </a:p>
          <a:p>
            <a:r>
              <a:rPr lang="en-US" altLang="zh-CN" sz="1600" dirty="0"/>
              <a:t>[7]	</a:t>
            </a:r>
            <a:r>
              <a:rPr lang="zh-CN" altLang="en-US" sz="1600" dirty="0"/>
              <a:t>陈大宇</a:t>
            </a:r>
            <a:r>
              <a:rPr lang="en-US" altLang="zh-CN" sz="1600" dirty="0"/>
              <a:t>,</a:t>
            </a:r>
            <a:r>
              <a:rPr lang="zh-CN" altLang="en-US" sz="1600" dirty="0"/>
              <a:t>张粒子</a:t>
            </a:r>
            <a:r>
              <a:rPr lang="en-US" altLang="zh-CN" sz="1600" dirty="0"/>
              <a:t>,</a:t>
            </a:r>
            <a:r>
              <a:rPr lang="zh-CN" altLang="en-US" sz="1600" dirty="0"/>
              <a:t>马历</a:t>
            </a:r>
            <a:r>
              <a:rPr lang="en-US" altLang="zh-CN" sz="1600" dirty="0"/>
              <a:t>.</a:t>
            </a:r>
            <a:r>
              <a:rPr lang="zh-CN" altLang="en-US" sz="1600" dirty="0"/>
              <a:t>储能参与的</a:t>
            </a:r>
            <a:r>
              <a:rPr lang="en-US" altLang="zh-CN" sz="1600" dirty="0"/>
              <a:t>AGC</a:t>
            </a:r>
            <a:r>
              <a:rPr lang="zh-CN" altLang="en-US" sz="1600" dirty="0"/>
              <a:t>市场出清优化建模新方法</a:t>
            </a:r>
            <a:r>
              <a:rPr lang="en-US" altLang="zh-CN" sz="1600" dirty="0"/>
              <a:t>[J].</a:t>
            </a:r>
            <a:r>
              <a:rPr lang="zh-CN" altLang="en-US" sz="1600" dirty="0"/>
              <a:t>电力系统自动化</a:t>
            </a:r>
            <a:r>
              <a:rPr lang="en-US" altLang="zh-CN" sz="1600" dirty="0"/>
              <a:t>,2014,38(13):79-84.</a:t>
            </a:r>
          </a:p>
          <a:p>
            <a:r>
              <a:rPr lang="en-US" altLang="zh-CN" sz="1600" dirty="0"/>
              <a:t>[8]	</a:t>
            </a:r>
            <a:r>
              <a:rPr lang="zh-CN" altLang="en-US" sz="1600" dirty="0"/>
              <a:t>肖云鹏</a:t>
            </a:r>
            <a:r>
              <a:rPr lang="en-US" altLang="zh-CN" sz="1600" dirty="0"/>
              <a:t>,</a:t>
            </a:r>
            <a:r>
              <a:rPr lang="zh-CN" altLang="en-US" sz="1600" dirty="0"/>
              <a:t>张兰</a:t>
            </a:r>
            <a:r>
              <a:rPr lang="en-US" altLang="zh-CN" sz="1600" dirty="0"/>
              <a:t>,</a:t>
            </a:r>
            <a:r>
              <a:rPr lang="zh-CN" altLang="en-US" sz="1600" dirty="0"/>
              <a:t>张轩</a:t>
            </a:r>
            <a:r>
              <a:rPr lang="en-US" altLang="zh-CN" sz="1600" dirty="0"/>
              <a:t>,</a:t>
            </a:r>
            <a:r>
              <a:rPr lang="zh-CN" altLang="en-US" sz="1600" dirty="0"/>
              <a:t>刘起兴</a:t>
            </a:r>
            <a:r>
              <a:rPr lang="en-US" altLang="zh-CN" sz="1600" dirty="0"/>
              <a:t>.</a:t>
            </a:r>
            <a:r>
              <a:rPr lang="zh-CN" altLang="en-US" sz="1600" dirty="0"/>
              <a:t>包含独立储能的现货电能量与调频辅助服务市场出清协调机制</a:t>
            </a:r>
            <a:r>
              <a:rPr lang="en-US" altLang="zh-CN" sz="1600" dirty="0"/>
              <a:t>[J].</a:t>
            </a:r>
            <a:r>
              <a:rPr lang="zh-CN" altLang="en-US" sz="1600" dirty="0"/>
              <a:t>中国电机工程学报</a:t>
            </a:r>
            <a:r>
              <a:rPr lang="en-US" altLang="zh-CN" sz="1600" dirty="0"/>
              <a:t>,2020,40(S1):167-180.DOI:10.13334/j.0258-8013.pcsee.200977.</a:t>
            </a:r>
          </a:p>
          <a:p>
            <a:r>
              <a:rPr lang="en-US" altLang="zh-CN" sz="1600" dirty="0"/>
              <a:t>[9]	</a:t>
            </a:r>
            <a:r>
              <a:rPr lang="zh-CN" altLang="en-US" sz="1600" dirty="0"/>
              <a:t>林阿竹</a:t>
            </a:r>
            <a:r>
              <a:rPr lang="en-US" altLang="zh-CN" sz="1600" dirty="0"/>
              <a:t>,</a:t>
            </a:r>
            <a:r>
              <a:rPr lang="zh-CN" altLang="en-US" sz="1600" dirty="0"/>
              <a:t>柯清辉</a:t>
            </a:r>
            <a:r>
              <a:rPr lang="en-US" altLang="zh-CN" sz="1600" dirty="0"/>
              <a:t>,</a:t>
            </a:r>
            <a:r>
              <a:rPr lang="zh-CN" altLang="en-US" sz="1600" dirty="0"/>
              <a:t>江岳文</a:t>
            </a:r>
            <a:r>
              <a:rPr lang="en-US" altLang="zh-CN" sz="1600" dirty="0"/>
              <a:t>.</a:t>
            </a:r>
            <a:r>
              <a:rPr lang="zh-CN" altLang="en-US" sz="1600" dirty="0"/>
              <a:t>独立储能参与调频辅助服务市场机制设计</a:t>
            </a:r>
            <a:r>
              <a:rPr lang="en-US" altLang="zh-CN" sz="1600" dirty="0"/>
              <a:t>[J/OL].</a:t>
            </a:r>
            <a:r>
              <a:rPr lang="zh-CN" altLang="en-US" sz="1600" dirty="0"/>
              <a:t>电力自动化设备</a:t>
            </a:r>
            <a:r>
              <a:rPr lang="en-US" altLang="zh-CN" sz="1600" dirty="0"/>
              <a:t>:1-14[2022-05-02].DOI:10.16081/j.epae.202204040.</a:t>
            </a:r>
          </a:p>
          <a:p>
            <a:r>
              <a:rPr lang="en-US" altLang="zh-CN" sz="1600" dirty="0"/>
              <a:t>[10]	</a:t>
            </a:r>
            <a:r>
              <a:rPr lang="zh-CN" altLang="en-US" sz="1600" dirty="0"/>
              <a:t>程亦直</a:t>
            </a:r>
            <a:r>
              <a:rPr lang="en-US" altLang="zh-CN" sz="1600" dirty="0"/>
              <a:t>,</a:t>
            </a:r>
            <a:r>
              <a:rPr lang="zh-CN" altLang="en-US" sz="1600" dirty="0"/>
              <a:t>张沛超</a:t>
            </a:r>
            <a:r>
              <a:rPr lang="en-US" altLang="zh-CN" sz="1600" dirty="0"/>
              <a:t>,</a:t>
            </a:r>
            <a:r>
              <a:rPr lang="zh-CN" altLang="en-US" sz="1600" dirty="0"/>
              <a:t>季珉杰</a:t>
            </a:r>
            <a:r>
              <a:rPr lang="en-US" altLang="zh-CN" sz="1600" dirty="0"/>
              <a:t>,</a:t>
            </a:r>
            <a:r>
              <a:rPr lang="zh-CN" altLang="en-US" sz="1600" dirty="0"/>
              <a:t>方陈</a:t>
            </a:r>
            <a:r>
              <a:rPr lang="en-US" altLang="zh-CN" sz="1600" dirty="0"/>
              <a:t>.</a:t>
            </a:r>
            <a:r>
              <a:rPr lang="zh-CN" altLang="en-US" sz="1600" dirty="0"/>
              <a:t>分布式电池储能系统参与自动发电控制的协调控制方法</a:t>
            </a:r>
            <a:r>
              <a:rPr lang="en-US" altLang="zh-CN" sz="1600" dirty="0"/>
              <a:t>[J].</a:t>
            </a:r>
            <a:r>
              <a:rPr lang="zh-CN" altLang="en-US" sz="1600" dirty="0"/>
              <a:t>电力系统自动化</a:t>
            </a:r>
            <a:r>
              <a:rPr lang="en-US" altLang="zh-CN" sz="1600" dirty="0"/>
              <a:t>,2018,42(08):66-73.</a:t>
            </a:r>
          </a:p>
          <a:p>
            <a:r>
              <a:rPr lang="en-US" altLang="zh-CN" sz="1600" dirty="0"/>
              <a:t>[11]	</a:t>
            </a:r>
            <a:r>
              <a:rPr lang="zh-CN" altLang="en-US" sz="1600" dirty="0"/>
              <a:t>孙中昊</a:t>
            </a:r>
            <a:r>
              <a:rPr lang="en-US" altLang="zh-CN" sz="1600" dirty="0"/>
              <a:t>,</a:t>
            </a:r>
            <a:r>
              <a:rPr lang="zh-CN" altLang="en-US" sz="1600" dirty="0"/>
              <a:t>赵晋泉</a:t>
            </a:r>
            <a:r>
              <a:rPr lang="en-US" altLang="zh-CN" sz="1600" dirty="0"/>
              <a:t>,</a:t>
            </a:r>
            <a:r>
              <a:rPr lang="zh-CN" altLang="en-US" sz="1600" dirty="0"/>
              <a:t>杨余华</a:t>
            </a:r>
            <a:r>
              <a:rPr lang="en-US" altLang="zh-CN" sz="1600" dirty="0"/>
              <a:t>,</a:t>
            </a:r>
            <a:r>
              <a:rPr lang="zh-CN" altLang="en-US" sz="1600" dirty="0"/>
              <a:t>葛延峰</a:t>
            </a:r>
            <a:r>
              <a:rPr lang="en-US" altLang="zh-CN" sz="1600" dirty="0"/>
              <a:t>,</a:t>
            </a:r>
            <a:r>
              <a:rPr lang="zh-CN" altLang="en-US" sz="1600" dirty="0"/>
              <a:t>崔岱</a:t>
            </a:r>
            <a:r>
              <a:rPr lang="en-US" altLang="zh-CN" sz="1600" dirty="0"/>
              <a:t>,</a:t>
            </a:r>
            <a:r>
              <a:rPr lang="zh-CN" altLang="en-US" sz="1600" dirty="0"/>
              <a:t>李家珏</a:t>
            </a:r>
            <a:r>
              <a:rPr lang="en-US" altLang="zh-CN" sz="1600" dirty="0"/>
              <a:t>. </a:t>
            </a:r>
            <a:r>
              <a:rPr lang="zh-CN" altLang="en-US" sz="1600" dirty="0"/>
              <a:t>风光水火储多类型电源参与调频市场出清模型</a:t>
            </a:r>
            <a:r>
              <a:rPr lang="en-US" altLang="zh-CN" sz="1600" dirty="0"/>
              <a:t>[C].</a:t>
            </a:r>
            <a:r>
              <a:rPr lang="zh-CN" altLang="en-US" sz="1600" dirty="0"/>
              <a:t>中国电机工程学会电力市场专业委员会</a:t>
            </a:r>
            <a:r>
              <a:rPr lang="en-US" altLang="zh-CN" sz="1600" dirty="0"/>
              <a:t>2019</a:t>
            </a:r>
            <a:r>
              <a:rPr lang="zh-CN" altLang="en-US" sz="1600" dirty="0"/>
              <a:t>年学术年会暨全国电力交易机构联盟论坛论文集</a:t>
            </a:r>
            <a:r>
              <a:rPr lang="en-US" altLang="zh-CN" sz="1600" dirty="0"/>
              <a:t>,2019:343-348.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56721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33" name="文本框 32" descr="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">
            <a:extLst>
              <a:ext uri="{FF2B5EF4-FFF2-40B4-BE49-F238E27FC236}">
                <a16:creationId xmlns:a16="http://schemas.microsoft.com/office/drawing/2014/main" id="{980AD58A-4B9C-486E-B9D7-2E3D0B2DACFC}"/>
              </a:ext>
            </a:extLst>
          </p:cNvPr>
          <p:cNvSpPr txBox="1"/>
          <p:nvPr/>
        </p:nvSpPr>
        <p:spPr>
          <a:xfrm>
            <a:off x="4100363" y="518822"/>
            <a:ext cx="3991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cs typeface="+mn-ea"/>
                <a:sym typeface="+mn-lt"/>
              </a:rPr>
              <a:t>参考文献</a:t>
            </a:r>
            <a:endParaRPr lang="en-US" altLang="zh-CN" sz="4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62E68CC6-D652-442B-8CFE-E1738739FCAB}"/>
              </a:ext>
            </a:extLst>
          </p:cNvPr>
          <p:cNvCxnSpPr>
            <a:cxnSpLocks/>
          </p:cNvCxnSpPr>
          <p:nvPr/>
        </p:nvCxnSpPr>
        <p:spPr>
          <a:xfrm>
            <a:off x="5566275" y="1290093"/>
            <a:ext cx="105944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E96879-4550-4FE1-B0ED-CF7A374343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0130" y="6026719"/>
            <a:ext cx="464762" cy="365125"/>
          </a:xfrm>
          <a:prstGeom prst="rect">
            <a:avLst/>
          </a:prstGeom>
        </p:spPr>
        <p:txBody>
          <a:bodyPr/>
          <a:lstStyle/>
          <a:p>
            <a:fld id="{04FD9700-F5CC-49AF-BD2D-23D2173C44DC}" type="slidenum">
              <a:rPr lang="en-US" smtClean="0"/>
              <a:t>30</a:t>
            </a:fld>
            <a:endParaRPr lang="en-US"/>
          </a:p>
        </p:txBody>
      </p:sp>
      <p:sp>
        <p:nvSpPr>
          <p:cNvPr id="2" name="矩形 1"/>
          <p:cNvSpPr/>
          <p:nvPr/>
        </p:nvSpPr>
        <p:spPr>
          <a:xfrm>
            <a:off x="600972" y="1501886"/>
            <a:ext cx="111280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[12]	Fang X, </a:t>
            </a:r>
            <a:r>
              <a:rPr lang="en-US" altLang="zh-CN" sz="1600" dirty="0" err="1"/>
              <a:t>Guo</a:t>
            </a:r>
            <a:r>
              <a:rPr lang="en-US" altLang="zh-CN" sz="1600" dirty="0"/>
              <a:t> H, Zhang X, Wang X, Chen Q. An efficient and incentive-compatible market design for energy storage participation. Applied Energy. 2022 Apr 1;311:118731. </a:t>
            </a:r>
          </a:p>
          <a:p>
            <a:r>
              <a:rPr lang="en-US" altLang="zh-CN" sz="1600" dirty="0"/>
              <a:t>[13]	Zhao H, Wu Q, Huang S, </a:t>
            </a:r>
            <a:r>
              <a:rPr lang="en-US" altLang="zh-CN" sz="1600" dirty="0" err="1"/>
              <a:t>Shahidehpour</a:t>
            </a:r>
            <a:r>
              <a:rPr lang="en-US" altLang="zh-CN" sz="1600" dirty="0"/>
              <a:t> M, </a:t>
            </a:r>
            <a:r>
              <a:rPr lang="en-US" altLang="zh-CN" sz="1600" dirty="0" err="1"/>
              <a:t>Guo</a:t>
            </a:r>
            <a:r>
              <a:rPr lang="en-US" altLang="zh-CN" sz="1600" dirty="0"/>
              <a:t> Q, Sun H. Fatigue load sensitivity-based optimal active power dispatch for wind farms. IEEE Transactions on sustainable energy. 2017 Feb 23;8(3):1247-59.</a:t>
            </a:r>
          </a:p>
          <a:p>
            <a:r>
              <a:rPr lang="en-US" altLang="zh-CN" sz="1600" dirty="0"/>
              <a:t>[14]	Xin H, Lu Z, Liu Y, </a:t>
            </a:r>
            <a:r>
              <a:rPr lang="en-US" altLang="zh-CN" sz="1600" dirty="0" err="1"/>
              <a:t>Gan</a:t>
            </a:r>
            <a:r>
              <a:rPr lang="en-US" altLang="zh-CN" sz="1600" dirty="0"/>
              <a:t> D. A center-free control strategy for the coordination of multiple photovoltaic generators. IEEE Transactions on Smart Grid. 2014 Apr 15;5(3):1262-9.</a:t>
            </a:r>
          </a:p>
          <a:p>
            <a:r>
              <a:rPr lang="en-US" altLang="zh-CN" sz="1600" dirty="0"/>
              <a:t>[15]	</a:t>
            </a:r>
            <a:r>
              <a:rPr lang="en-US" altLang="zh-CN" sz="1600" dirty="0" err="1"/>
              <a:t>Vagropoulos</a:t>
            </a:r>
            <a:r>
              <a:rPr lang="en-US" altLang="zh-CN" sz="1600" dirty="0"/>
              <a:t> SI, </a:t>
            </a:r>
            <a:r>
              <a:rPr lang="en-US" altLang="zh-CN" sz="1600" dirty="0" err="1"/>
              <a:t>Kyriazidis</a:t>
            </a:r>
            <a:r>
              <a:rPr lang="en-US" altLang="zh-CN" sz="1600" dirty="0"/>
              <a:t> DK, </a:t>
            </a:r>
            <a:r>
              <a:rPr lang="en-US" altLang="zh-CN" sz="1600" dirty="0" err="1"/>
              <a:t>Bakirtzis</a:t>
            </a:r>
            <a:r>
              <a:rPr lang="en-US" altLang="zh-CN" sz="1600" dirty="0"/>
              <a:t> AG. Real-time charging management framework for electric vehicle aggregators in a market environment. IEEE Transactions on Smart Grid. 2015 Apr 30;7(2):948-57.</a:t>
            </a:r>
          </a:p>
          <a:p>
            <a:r>
              <a:rPr lang="en-US" altLang="zh-CN" sz="1600" dirty="0"/>
              <a:t>[16]	</a:t>
            </a:r>
            <a:r>
              <a:rPr lang="zh-CN" altLang="en-US" sz="1600" dirty="0"/>
              <a:t>于昌海</a:t>
            </a:r>
            <a:r>
              <a:rPr lang="en-US" altLang="zh-CN" sz="1600" dirty="0"/>
              <a:t>,</a:t>
            </a:r>
            <a:r>
              <a:rPr lang="zh-CN" altLang="en-US" sz="1600" dirty="0"/>
              <a:t>吴继平</a:t>
            </a:r>
            <a:r>
              <a:rPr lang="en-US" altLang="zh-CN" sz="1600" dirty="0"/>
              <a:t>,</a:t>
            </a:r>
            <a:r>
              <a:rPr lang="zh-CN" altLang="en-US" sz="1600" dirty="0"/>
              <a:t>杨海晶</a:t>
            </a:r>
            <a:r>
              <a:rPr lang="en-US" altLang="zh-CN" sz="1600" dirty="0"/>
              <a:t>,</a:t>
            </a:r>
            <a:r>
              <a:rPr lang="zh-CN" altLang="en-US" sz="1600" dirty="0"/>
              <a:t>李朝晖</a:t>
            </a:r>
            <a:r>
              <a:rPr lang="en-US" altLang="zh-CN" sz="1600" dirty="0"/>
              <a:t>,</a:t>
            </a:r>
            <a:r>
              <a:rPr lang="zh-CN" altLang="en-US" sz="1600" dirty="0"/>
              <a:t>滕贤亮</a:t>
            </a:r>
            <a:r>
              <a:rPr lang="en-US" altLang="zh-CN" sz="1600" dirty="0"/>
              <a:t>,</a:t>
            </a:r>
            <a:r>
              <a:rPr lang="zh-CN" altLang="en-US" sz="1600" dirty="0"/>
              <a:t>涂孟夫</a:t>
            </a:r>
            <a:r>
              <a:rPr lang="en-US" altLang="zh-CN" sz="1600" dirty="0"/>
              <a:t>.</a:t>
            </a:r>
            <a:r>
              <a:rPr lang="zh-CN" altLang="en-US" sz="1600" dirty="0"/>
              <a:t>规模化储能系统参与电网调频的控制策略研究</a:t>
            </a:r>
            <a:r>
              <a:rPr lang="en-US" altLang="zh-CN" sz="1600" dirty="0"/>
              <a:t>[J].</a:t>
            </a:r>
            <a:r>
              <a:rPr lang="zh-CN" altLang="en-US" sz="1600" dirty="0"/>
              <a:t>电力工程技术</a:t>
            </a:r>
            <a:r>
              <a:rPr lang="en-US" altLang="zh-CN" sz="1600" dirty="0"/>
              <a:t>,2019,38(04):68-73+105.</a:t>
            </a:r>
            <a:r>
              <a:rPr lang="zh-CN" altLang="en-US" sz="1600" dirty="0"/>
              <a:t>分布式电池储能系统参与自动发电控制的协调控制方法</a:t>
            </a:r>
          </a:p>
          <a:p>
            <a:r>
              <a:rPr lang="en-US" altLang="zh-CN" sz="1600" dirty="0"/>
              <a:t>[17]	</a:t>
            </a:r>
            <a:r>
              <a:rPr lang="zh-CN" altLang="en-US" sz="1600" dirty="0"/>
              <a:t>胡泽春</a:t>
            </a:r>
            <a:r>
              <a:rPr lang="en-US" altLang="zh-CN" sz="1600" dirty="0"/>
              <a:t>,</a:t>
            </a:r>
            <a:r>
              <a:rPr lang="zh-CN" altLang="en-US" sz="1600" dirty="0"/>
              <a:t>谢旭</a:t>
            </a:r>
            <a:r>
              <a:rPr lang="en-US" altLang="zh-CN" sz="1600" dirty="0"/>
              <a:t>,</a:t>
            </a:r>
            <a:r>
              <a:rPr lang="zh-CN" altLang="en-US" sz="1600" dirty="0"/>
              <a:t>张放</a:t>
            </a:r>
            <a:r>
              <a:rPr lang="en-US" altLang="zh-CN" sz="1600" dirty="0"/>
              <a:t>,</a:t>
            </a:r>
            <a:r>
              <a:rPr lang="zh-CN" altLang="en-US" sz="1600" dirty="0"/>
              <a:t>张晶</a:t>
            </a:r>
            <a:r>
              <a:rPr lang="en-US" altLang="zh-CN" sz="1600" dirty="0"/>
              <a:t>,</a:t>
            </a:r>
            <a:r>
              <a:rPr lang="zh-CN" altLang="en-US" sz="1600" dirty="0"/>
              <a:t>宋永华</a:t>
            </a:r>
            <a:r>
              <a:rPr lang="en-US" altLang="zh-CN" sz="1600" dirty="0"/>
              <a:t>.</a:t>
            </a:r>
            <a:r>
              <a:rPr lang="zh-CN" altLang="en-US" sz="1600" dirty="0"/>
              <a:t>含储能资源参与的自动发电控制策略研究</a:t>
            </a:r>
            <a:r>
              <a:rPr lang="en-US" altLang="zh-CN" sz="1600" dirty="0"/>
              <a:t>[J].</a:t>
            </a:r>
            <a:r>
              <a:rPr lang="zh-CN" altLang="en-US" sz="1600" dirty="0"/>
              <a:t>中国电机工程学报</a:t>
            </a:r>
            <a:r>
              <a:rPr lang="en-US" altLang="zh-CN" sz="1600" dirty="0"/>
              <a:t>,2014,34(29):5080-5087.DOI:10.13334/j.0258-8013.pcsee.2014.29.009.</a:t>
            </a:r>
          </a:p>
          <a:p>
            <a:r>
              <a:rPr lang="en-US" altLang="zh-CN" sz="1600" dirty="0"/>
              <a:t>[18]	</a:t>
            </a:r>
            <a:r>
              <a:rPr lang="zh-CN" altLang="en-US" sz="1600" dirty="0"/>
              <a:t>陈浩</a:t>
            </a:r>
            <a:r>
              <a:rPr lang="en-US" altLang="zh-CN" sz="1600" dirty="0"/>
              <a:t>,</a:t>
            </a:r>
            <a:r>
              <a:rPr lang="zh-CN" altLang="en-US" sz="1600" dirty="0"/>
              <a:t>贾燕冰</a:t>
            </a:r>
            <a:r>
              <a:rPr lang="en-US" altLang="zh-CN" sz="1600" dirty="0"/>
              <a:t>,</a:t>
            </a:r>
            <a:r>
              <a:rPr lang="zh-CN" altLang="en-US" sz="1600" dirty="0"/>
              <a:t>郑晋</a:t>
            </a:r>
            <a:r>
              <a:rPr lang="en-US" altLang="zh-CN" sz="1600" dirty="0"/>
              <a:t>,</a:t>
            </a:r>
            <a:r>
              <a:rPr lang="zh-CN" altLang="en-US" sz="1600" dirty="0"/>
              <a:t>严正</a:t>
            </a:r>
            <a:r>
              <a:rPr lang="en-US" altLang="zh-CN" sz="1600" dirty="0"/>
              <a:t>,</a:t>
            </a:r>
            <a:r>
              <a:rPr lang="zh-CN" altLang="en-US" sz="1600" dirty="0"/>
              <a:t>王金浩</a:t>
            </a:r>
            <a:r>
              <a:rPr lang="en-US" altLang="zh-CN" sz="1600" dirty="0"/>
              <a:t>,</a:t>
            </a:r>
            <a:r>
              <a:rPr lang="zh-CN" altLang="en-US" sz="1600" dirty="0"/>
              <a:t>常潇</a:t>
            </a:r>
            <a:r>
              <a:rPr lang="en-US" altLang="zh-CN" sz="1600" dirty="0"/>
              <a:t>.</a:t>
            </a:r>
            <a:r>
              <a:rPr lang="zh-CN" altLang="en-US" sz="1600" dirty="0"/>
              <a:t>规模化储能调频辅助服务市场机制及调度策略研究</a:t>
            </a:r>
            <a:r>
              <a:rPr lang="en-US" altLang="zh-CN" sz="1600" dirty="0"/>
              <a:t>[J].</a:t>
            </a:r>
            <a:r>
              <a:rPr lang="zh-CN" altLang="en-US" sz="1600" dirty="0"/>
              <a:t>电网技术</a:t>
            </a:r>
            <a:r>
              <a:rPr lang="en-US" altLang="zh-CN" sz="1600" dirty="0"/>
              <a:t>,2019,43(10):3606-3617.DOI:10.13335/j.1000-3673.pst.2019.0045.</a:t>
            </a:r>
          </a:p>
          <a:p>
            <a:r>
              <a:rPr lang="en-US" altLang="zh-CN" sz="1600" dirty="0"/>
              <a:t>[19]	</a:t>
            </a:r>
            <a:r>
              <a:rPr lang="zh-CN" altLang="en-US" sz="1600" dirty="0"/>
              <a:t>魏韡</a:t>
            </a:r>
            <a:r>
              <a:rPr lang="en-US" altLang="zh-CN" sz="1600" dirty="0"/>
              <a:t>,</a:t>
            </a:r>
            <a:r>
              <a:rPr lang="zh-CN" altLang="en-US" sz="1600" dirty="0"/>
              <a:t>陈玥</a:t>
            </a:r>
            <a:r>
              <a:rPr lang="en-US" altLang="zh-CN" sz="1600" dirty="0"/>
              <a:t>,</a:t>
            </a:r>
            <a:r>
              <a:rPr lang="zh-CN" altLang="en-US" sz="1600" dirty="0"/>
              <a:t>刘锋</a:t>
            </a:r>
            <a:r>
              <a:rPr lang="en-US" altLang="zh-CN" sz="1600" dirty="0"/>
              <a:t>,</a:t>
            </a:r>
            <a:r>
              <a:rPr lang="zh-CN" altLang="en-US" sz="1600" dirty="0"/>
              <a:t>梅生伟</a:t>
            </a:r>
            <a:r>
              <a:rPr lang="en-US" altLang="zh-CN" sz="1600" dirty="0"/>
              <a:t>,</a:t>
            </a:r>
            <a:r>
              <a:rPr lang="zh-CN" altLang="en-US" sz="1600" dirty="0"/>
              <a:t>田芳</a:t>
            </a:r>
            <a:r>
              <a:rPr lang="en-US" altLang="zh-CN" sz="1600" dirty="0"/>
              <a:t>,</a:t>
            </a:r>
            <a:r>
              <a:rPr lang="zh-CN" altLang="en-US" sz="1600" dirty="0"/>
              <a:t>张星</a:t>
            </a:r>
            <a:r>
              <a:rPr lang="en-US" altLang="zh-CN" sz="1600" dirty="0"/>
              <a:t>.</a:t>
            </a:r>
            <a:r>
              <a:rPr lang="zh-CN" altLang="en-US" sz="1600" dirty="0"/>
              <a:t>基于主从博弈的智能小区代理商定价策略及电动汽车充电管理</a:t>
            </a:r>
            <a:r>
              <a:rPr lang="en-US" altLang="zh-CN" sz="1600" dirty="0"/>
              <a:t>[J].</a:t>
            </a:r>
            <a:r>
              <a:rPr lang="zh-CN" altLang="en-US" sz="1600" dirty="0"/>
              <a:t>电网技术</a:t>
            </a:r>
            <a:r>
              <a:rPr lang="en-US" altLang="zh-CN" sz="1600" dirty="0"/>
              <a:t>,2015,39(04):939-945.DOI:10.13335/j.1000-3673.pst.2015.04.010.</a:t>
            </a:r>
          </a:p>
          <a:p>
            <a:r>
              <a:rPr lang="en-US" altLang="zh-CN" sz="1600" dirty="0"/>
              <a:t>[20]	PJM. PJM manual 11: energy &amp; ancillary services market operations revision:112 [R]. Philadelphia: PJM, 2021.</a:t>
            </a:r>
          </a:p>
          <a:p>
            <a:r>
              <a:rPr lang="en-US" altLang="zh-CN" sz="1600" dirty="0"/>
              <a:t>[21]	</a:t>
            </a:r>
            <a:r>
              <a:rPr lang="en-US" altLang="zh-CN" sz="1600" dirty="0" err="1"/>
              <a:t>Vatandoust</a:t>
            </a:r>
            <a:r>
              <a:rPr lang="en-US" altLang="zh-CN" sz="1600" dirty="0"/>
              <a:t> B ,  </a:t>
            </a:r>
            <a:r>
              <a:rPr lang="en-US" altLang="zh-CN" sz="1600" dirty="0" err="1"/>
              <a:t>Ahmadian</a:t>
            </a:r>
            <a:r>
              <a:rPr lang="en-US" altLang="zh-CN" sz="1600" dirty="0"/>
              <a:t> A ,  </a:t>
            </a:r>
            <a:r>
              <a:rPr lang="en-US" altLang="zh-CN" sz="1600" dirty="0" err="1"/>
              <a:t>Golka</a:t>
            </a:r>
            <a:r>
              <a:rPr lang="en-US" altLang="zh-CN" sz="1600" dirty="0"/>
              <a:t> M , et al. Risk-Averse Optimal Bidding of Electric Vehicles and Energy Storage Aggregator in Day-Ahead Frequency Regulation Market[J]. IEEE Transactions on Power Systems, 2018, PP(99):1-1.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339838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7d195523061f1c0" descr="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a:t>
            </a:r>
            <a:endParaRPr lang="zh-CN" altLang="en-US" sz="100"/>
          </a:p>
        </p:txBody>
      </p:sp>
      <p:sp>
        <p:nvSpPr>
          <p:cNvPr id="8" name="内容占位符 2"/>
          <p:cNvSpPr txBox="1">
            <a:spLocks noChangeArrowheads="1"/>
          </p:cNvSpPr>
          <p:nvPr/>
        </p:nvSpPr>
        <p:spPr bwMode="auto">
          <a:xfrm>
            <a:off x="1028390" y="1942390"/>
            <a:ext cx="4997564" cy="2215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rgbClr val="003399"/>
              </a:buClr>
            </a:pPr>
            <a:r>
              <a:rPr lang="zh-CN" altLang="en-US" sz="5400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5400" spc="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ct val="20000"/>
              </a:spcBef>
              <a:buClr>
                <a:srgbClr val="003399"/>
              </a:buClr>
            </a:pPr>
            <a:r>
              <a:rPr lang="zh-CN" altLang="en-US" sz="5400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请批评指正！</a:t>
            </a:r>
          </a:p>
        </p:txBody>
      </p:sp>
      <p:cxnSp>
        <p:nvCxnSpPr>
          <p:cNvPr id="9" name="直接连接符 8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59884A04-F20E-478E-A670-C28D709F1DCD}"/>
              </a:ext>
            </a:extLst>
          </p:cNvPr>
          <p:cNvCxnSpPr>
            <a:cxnSpLocks/>
          </p:cNvCxnSpPr>
          <p:nvPr/>
        </p:nvCxnSpPr>
        <p:spPr>
          <a:xfrm>
            <a:off x="1028389" y="4255127"/>
            <a:ext cx="2545041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2" descr="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">
            <a:extLst>
              <a:ext uri="{FF2B5EF4-FFF2-40B4-BE49-F238E27FC236}">
                <a16:creationId xmlns:a16="http://schemas.microsoft.com/office/drawing/2014/main" id="{2195E436-260B-4E8B-94A2-4BE2DAD0442A}"/>
              </a:ext>
            </a:extLst>
          </p:cNvPr>
          <p:cNvSpPr>
            <a:spLocks/>
          </p:cNvSpPr>
          <p:nvPr/>
        </p:nvSpPr>
        <p:spPr bwMode="auto">
          <a:xfrm>
            <a:off x="1028389" y="4523833"/>
            <a:ext cx="6188840" cy="159009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70C0"/>
                </a:solidFill>
                <a:cs typeface="+mn-ea"/>
                <a:sym typeface="+mn-lt"/>
              </a:rPr>
              <a:t>吕睿可</a:t>
            </a:r>
            <a:endParaRPr lang="en-US" altLang="zh-CN" sz="20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6551603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1240;#380168;#393620;"/>
</p:tagLst>
</file>

<file path=ppt/theme/theme1.xml><?xml version="1.0" encoding="utf-8"?>
<a:theme xmlns:a="http://schemas.openxmlformats.org/drawingml/2006/main" name="1_Office Theme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e7d195523061f1c0 xmlns="http://e7d195523061f1c0/custom/data/def">
  <_7b1dac89e7d195523061f1c0316ecb71 xmlns="">e7d195523061f1c0220a3acd2f99070e22f7f2176c6c61f4AB5BC6AF3DF28E09514168BD2F6654DA4347BEC42B9A9B38EB2139F52FD80B94EB8F1B847F5BC18ECD11DB8433CCABD6DAEA8D49E99C31D366FABFD95683EA7742973861F4CAD8173D6A07DF1CBF951ECD69574DA7098D2AF9E090CFC8FCFB1845C62FE854CF8D2DEC20E4D9BDA909F1B0C92CC94DB2067D</_7b1dac89e7d195523061f1c0316ecb71>
  <_7b1dac89e7d195523061f1c0316ecb71 xmlns="">e7d195523061f1c0220a3acd2f99070e22f7f2176c6c61f4AB5BC6AF3DF28E09514168BD2F6654DA4347BEC42B9A9B38EB2139F52FD80B94EB8F1B847F5BC18ECD11DB8433CCABD6DAEA8D49E99C31D366FABFD95683EA77F721ED503A827061510CA2306CEA37B591700306744D3155D5EAC037532F57F40D04C7B9D3E1E2CA0E4BC013DA5C04EC96201FD825DD7BC5</_7b1dac89e7d195523061f1c0316ecb71>
  <_7b1dac89e7d195523061f1c0316ecb71 xmlns="">e7d195523061f1c0220a3acd2f99070e22f7f2176c6c61f4AB5BC6AF3DF28E09514168BD2F6654DA4347BEC42B9A9B38EB2139F52FD80B94EB8F1B847F5BC18ECD11DB8433CCABD6DAEA8D49E99C31D366FABFD95683EA773F0D608D56E1F73812E2F4F991DFC36254BEB5040BC372245635F6E25960F5109F5C3C231E71D8857F99CEF9C61B970ACEDA8DB5DFD85354</_7b1dac89e7d195523061f1c0316ecb71>
  <_7b1dac89e7d195523061f1c0316ecb71 xmlns="">e7d195523061f1c0220a3acd2f99070e22f7f2176c6c61f4AB5BC6AF3DF28E09514168BD2F6654DA4347BEC42B9A9B38EB2139F52FD80B94EB8F1B847F5BC18ECD11DB8433CCABD6DAEA8D49E99C31D366FABFD95683EA77D61387E6A27901F89A19528C0C5F7E8E39BC7262E74848E99652DD0BE839FB909BD02467D707D9BE68C8AB7FDCCBBCD673E8F1D7E152BD9B</_7b1dac89e7d195523061f1c0316ecb71>
  <_7b1dac89e7d195523061f1c0316ecb71 xmlns="">e7d195523061f1c0220a3acd2f99070e22f7f2176c6c61f4AB5BC6AF3DF28E09514168BD2F6654DA4347BEC42B9A9B38EB2139F52FD80B94EB8F1B847F5BC18ECD11DB8433CCABD6DAEA8D49E99C31D3A2490EADE14D8E6870E8671671ACB573F232927ECF53FBF65F3CAC32B2F44816AF3CBD959535DAF4DDD6BCE52D18ECEF96EE44C602B14FA5</_7b1dac89e7d195523061f1c0316ecb71>
  <_7b1dac89e7d195523061f1c0316ecb71 xmlns="">e7d195523061f1c0220a3acd2f99070e22f7f2176c6c61f4AB5BC6AF3DF28E09514168BD2F6654DA4347BEC42B9A9B38EB2139F52FD80B94EB8F1B847F5BC18ECD11DB8433CCABD6DAEA8D49E99C31D3A2490EADE14D8E68D4F5A6ADD24834AEE21904330830ACC638D31F80BE21A7A098F17FD6F74138610575E5708865A5DD67DBF468C480C066</_7b1dac89e7d195523061f1c0316ecb71>
  <_7b1dac89e7d195523061f1c0316ecb71 xmlns="">e7d195523061f1c0220a3acd2f99070e22f7f2176c6c61f4AB5BC6AF3DF28E09514168BD2F6654DA4347BEC42B9A9B38EB2139F52FD80B94EB8F1B847F5BC18ECD11DB8433CCABD6DAEA8D49E99C31D3A2490EADE14D8E6839ED356DFC2AA5FE51C7928D06F69E3BCE8E26E24E9D588A4952A9033036B8C4D17EB63479086B86AAE87112DA50D0F3</_7b1dac89e7d195523061f1c0316ecb71>
  <_7b1dac89e7d195523061f1c0316ecb71 xmlns="">e7d195523061f1c0220a3acd2f99070e22f7f2176c6c61f4AB5BC6AF3DF28E09514168BD2F6654DA4347BEC42B9A9B38EB2139F52FD80B94EB8F1B847F5BC18ECD11DB8433CCABD6DAEA8D49E99C31D3A2490EADE14D8E68EE2DFF2EE58688B2C11768A707DCBE808A22DF3B023DE49DCFD5225570E56D29091F98CCD6128FB72CA83E9D70C23E8FB95B6D3BC0C03CD0</_7b1dac89e7d195523061f1c0316ecb71>
  <_7b1dac89e7d195523061f1c0316ecb71 xmlns="">e7d195523061f1c0220a3acd2f99070e22f7f2176c6c61f4AB5BC6AF3DF28E09514168BD2F6654DA4347BEC42B9A9B38EB2139F52FD80B94EB8F1B847F5BC18ECD11DB8433CCABD6DAEA8D49E99C31D30DD985C7E7F6586801F1A9D4A6731C7B808AD6DE936560B66AF9ABAFD27B4F14F2216738F2BDCF8E8980047CD5FC5117A8630BC284B82A52</_7b1dac89e7d195523061f1c0316ecb71>
  <_7b1dac89e7d195523061f1c0316ecb71 xmlns="">e7d195523061f1c0220a3acd2f99070e22f7f2176c6c61f4AB5BC6AF3DF28E09514168BD2F6654DA4347BEC42B9A9B38EB2139F52FD80B94EB8F1B847F5BC18ECD11DB8433CCABD6DAEA8D49E99C31D30DD985C7E7F65868F2551F5885CC1A30FA7B5FAAA822AA61A3E8617C9AE80A62B52E38195D70FE1C84EE15D17315EF2237BBF13F73D223A6E2E250E2D97EC3B1</_7b1dac89e7d195523061f1c0316ecb71>
  <_7b1dac89e7d195523061f1c0316ecb71 xmlns="">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</_7b1dac89e7d195523061f1c0316ecb71>
  <_7b1dac89e7d195523061f1c0316ecb71 xmlns="">e7d195523061f1c0220a3acd2f99070e22f7f2176c6c61f4AB5BC6AF3DF28E09514168BD2F6654DA4347BEC42B9A9B38EB2139F52FD80B94EB8F1B847F5BC18ECD11DB8433CCABD6DAEA8D49E99C31D30DD985C7E7F658683D49137DE4F457C164C70E1C808163AEDF8845922882E9C7C0746E82043C778151C341062818AE2D4FA586C607E1B57A8823EFC30C12D6D3</_7b1dac89e7d195523061f1c0316ecb71>
  <_7b1dac89e7d195523061f1c0316ecb71 xmlns="">e7d195523061f1c0220a3acd2f99070e22f7f2176c6c61f4AB5BC6AF3DF28E09514168BD2F6654DA4347BEC42B9A9B38EB2139F52FD80B94EB8F1B847F5BC18ECD11DB8433CCABD6DAEA8D49E99C31D369F6504303A5EBA9AA7D9BFCD0479EF4CD7B356364031BDC6DE59B1A1172A168DE6D6605B65076ECD0EB005641EB56FE182B3012A54447CB14EF2DF2E6200829</_7b1dac89e7d195523061f1c0316ecb71>
</e7d195523061f1c0>
</file>

<file path=customXml/itemProps1.xml><?xml version="1.0" encoding="utf-8"?>
<ds:datastoreItem xmlns:ds="http://schemas.openxmlformats.org/officeDocument/2006/customXml" ds:itemID="{FC1EB725-3096-42D0-8A20-29E1DA45BD81}">
  <ds:schemaRefs>
    <ds:schemaRef ds:uri="http://e7d195523061f1c0/custom/data/def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24336</TotalTime>
  <Words>3928</Words>
  <Application>Microsoft Macintosh PowerPoint</Application>
  <PresentationFormat>宽屏</PresentationFormat>
  <Paragraphs>318</Paragraphs>
  <Slides>31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等线</vt:lpstr>
      <vt:lpstr>黑体</vt:lpstr>
      <vt:lpstr>微软雅黑</vt:lpstr>
      <vt:lpstr>Arial</vt:lpstr>
      <vt:lpstr>Cambria Math</vt:lpstr>
      <vt:lpstr>Times New Roman</vt:lpstr>
      <vt:lpstr>1_Office Theme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©PPTSTORE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Hongye Guo</dc:creator>
  <dc:description>©PPTSTORE 版权所有</dc:description>
  <cp:lastModifiedBy>Ruike Lyu</cp:lastModifiedBy>
  <cp:revision>2187</cp:revision>
  <dcterms:created xsi:type="dcterms:W3CDTF">2017-04-10T03:29:31Z</dcterms:created>
  <dcterms:modified xsi:type="dcterms:W3CDTF">2025-05-03T13:35:53Z</dcterms:modified>
</cp:coreProperties>
</file>